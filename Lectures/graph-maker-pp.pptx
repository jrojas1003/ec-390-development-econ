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7"/>
  </p:notesMasterIdLst>
  <p:sldIdLst>
    <p:sldId id="256" r:id="rId2"/>
    <p:sldId id="258" r:id="rId3"/>
    <p:sldId id="259" r:id="rId4"/>
    <p:sldId id="260" r:id="rId5"/>
    <p:sldId id="261" r:id="rId6"/>
    <p:sldId id="262" r:id="rId7"/>
    <p:sldId id="264" r:id="rId8"/>
    <p:sldId id="263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6" r:id="rId20"/>
    <p:sldId id="275" r:id="rId21"/>
    <p:sldId id="277" r:id="rId22"/>
    <p:sldId id="278" r:id="rId23"/>
    <p:sldId id="279" r:id="rId24"/>
    <p:sldId id="280" r:id="rId25"/>
    <p:sldId id="281" r:id="rId2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7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89" autoAdjust="0"/>
    <p:restoredTop sz="94661"/>
  </p:normalViewPr>
  <p:slideViewPr>
    <p:cSldViewPr snapToGrid="0">
      <p:cViewPr>
        <p:scale>
          <a:sx n="88" d="100"/>
          <a:sy n="88" d="100"/>
        </p:scale>
        <p:origin x="1552" y="7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29F6188-8EB9-A643-A05C-94D1DA380893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BD580-D0B3-4B46-A2F6-1B1323FB556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10768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5BD580-D0B3-4B46-A2F6-1B1323FB556E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5971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B4788-1A38-394E-CDD0-AA098D1798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7070083-9032-158D-FBCF-5B2EA62C01B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B3AC29-1F37-309A-AE4E-A1E1457E3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C349C5-46F6-41D9-875F-E31206498E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D0158E-5A78-A3AA-4C28-7C5DB07457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6210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D96320-F435-89D0-1AFD-5801E77F66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1E6E6-2CB0-607C-D772-EF7A34EA33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25A7AB-3910-E8C3-E707-1B89DAEE7E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E43040-9581-4D1C-3DDC-322F24EB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E2E88-4E90-A61C-9CAA-DC08F0938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257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90948-0293-63E9-090B-34F6F8385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BD2FB6-C96E-6CD5-F808-ED8EEAB98C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C4C1D0-DAE3-5A74-105D-636AF43E8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98CBF9-D082-E196-6B8D-4A28C594D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1428D4-A18F-E051-8916-66384D5506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3742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DFE579-C8D8-C0CD-1C9D-75B3AFA8C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AC6B04-042E-A1EF-CFFD-9DD017F81E3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ECBFB3-082F-4324-15A8-E1910016CC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6DD693-4A08-5178-BF68-8ED5001CE1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24C930-FC55-14E9-C79F-5DEF9ECF1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1CA96B-112B-4312-CA88-D6FCD7F33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028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1897B-A131-A833-F5DA-089CBD59A1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A6F12-EDD5-C4CE-2E0B-A7764D54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C6EAA8-19A9-E80F-8434-5BD2EE1F5BC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4615564-AD96-5231-5219-A44320EFE9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88AA33D-643C-B8D0-FB81-49DBC3DEDF6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B8DB91-1A85-ED54-0956-AC841F062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D379032-3C00-5A5F-3C43-B90E14E2B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CA15B2-A5FD-F7A3-393D-31489E740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27745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0AE0C1-7235-AB48-7F9B-57A0BB25A4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AC4191-C2B7-7CDA-5CA7-CAB02D1B15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D5646B-3E56-46E9-1347-6128CE933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A9B1C92-0445-B99A-9F7B-820B05016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33647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4968974-3B14-D9A3-6E49-74C1C94E3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0339414-EBE8-D1A0-4C15-122A08584F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FD5734-9213-4389-F40C-72FF6DA87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1923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6740EE-2627-B0B9-5E31-51015F16C1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07C40-D97A-FCE1-8CC9-B328D5987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8D9997-4F6C-31F3-9D28-0B1F6E617D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A989F4-22E6-C0B0-8269-98D802B5C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96E91D-2683-F1D8-0F69-DA67F3D46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C8B561-C7F3-6745-4574-98187A3C86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2218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0B71B8-51B1-48E5-BC81-1A9055EE1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2DDF70C-1AA2-9707-B963-E14533247F3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8370A5-C873-02E4-8D5D-BD6736C97D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B682C2-8858-2649-509F-757D7D2F87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BCB31E-40EA-D3C8-EBCF-4BD3999E0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51BFF9-2823-62FE-C648-C1F651C79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30442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3643CE-6B89-DA59-46B5-AFA406B80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519F15B-2FA2-64FB-8437-0BC98D547D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A86338-4F8B-EB2F-3771-98A6401B41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75FF3-8485-CEF9-F54D-1775A545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69DCD7-692B-2582-A54D-645A7B27F5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84104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5B1D28F-A8F0-A21C-E139-1E0E095CB79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1D3992C-312B-662C-7B86-0A7F4F4C29F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6E35DB-FA70-CDC4-C6EB-9358C2232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430B60-8020-E6E4-CA71-F9105AA99B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DE371-879E-479E-5A27-291480FED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746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96604B0-D19C-9959-D6BC-FEB5EDC11F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C6B6225-3AA1-6BDF-CE40-A0BCFE7795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182DE-EE74-16D4-F8BC-DA60B1BBBE3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B564A3-C150-4636-B8BE-2AA93CC227AD}" type="datetimeFigureOut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C24E3-D397-D4FA-61D8-5E696823F2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D1EEF-EED8-5AE6-874F-CE803D41F32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870E76-2D5B-4107-92D9-7C6B449712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26581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6.png"/><Relationship Id="rId7" Type="http://schemas.openxmlformats.org/officeDocument/2006/relationships/image" Target="../media/image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30.png"/><Relationship Id="rId7" Type="http://schemas.openxmlformats.org/officeDocument/2006/relationships/image" Target="../media/image32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3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0.png"/><Relationship Id="rId7" Type="http://schemas.openxmlformats.org/officeDocument/2006/relationships/image" Target="../media/image3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11" Type="http://schemas.openxmlformats.org/officeDocument/2006/relationships/image" Target="../media/image25.png"/><Relationship Id="rId5" Type="http://schemas.openxmlformats.org/officeDocument/2006/relationships/image" Target="../media/image27.png"/><Relationship Id="rId10" Type="http://schemas.openxmlformats.org/officeDocument/2006/relationships/image" Target="../media/image33.png"/><Relationship Id="rId4" Type="http://schemas.openxmlformats.org/officeDocument/2006/relationships/image" Target="../media/image34.png"/><Relationship Id="rId9" Type="http://schemas.openxmlformats.org/officeDocument/2006/relationships/image" Target="../media/image3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8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4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.png"/><Relationship Id="rId3" Type="http://schemas.openxmlformats.org/officeDocument/2006/relationships/image" Target="../media/image43.png"/><Relationship Id="rId7" Type="http://schemas.openxmlformats.org/officeDocument/2006/relationships/image" Target="../media/image5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6.png"/><Relationship Id="rId11" Type="http://schemas.openxmlformats.org/officeDocument/2006/relationships/image" Target="../media/image56.png"/><Relationship Id="rId5" Type="http://schemas.openxmlformats.org/officeDocument/2006/relationships/image" Target="../media/image44.png"/><Relationship Id="rId10" Type="http://schemas.openxmlformats.org/officeDocument/2006/relationships/image" Target="../media/image55.png"/><Relationship Id="rId4" Type="http://schemas.openxmlformats.org/officeDocument/2006/relationships/image" Target="../media/image51.png"/><Relationship Id="rId9" Type="http://schemas.openxmlformats.org/officeDocument/2006/relationships/image" Target="../media/image5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7B82752-7931-FACB-4C51-4C607B9BD51E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1164169-1AB8-10A8-5A39-050A828D536B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FDC559B-2C3F-EC64-82F2-7BAED42BC41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E5C29BC-E870-65EE-E2E2-C2E5BA85AB97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9E90807-EC1B-B16A-A179-74E484A1B2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412B364-1DA7-2B43-5419-2AF1123F8508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7F6510C-0F6E-7AB5-980D-7B03F1FFA6DB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3F86C16-A25B-DE22-557F-5EB722BDAB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/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FBB204-1FED-8482-5A5B-E13836D14E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8362" y="967478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B136C52-F472-F5FC-1E85-C4516AA906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A2A8AAEC-2E5C-C25E-4A94-365F98B54E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C9B90583-31A1-BCE9-52FF-50B2A1A8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22806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0EEED-8D95-42DF-4DB6-E5FAAB4DF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2B4EB83-1C42-9F6F-0AD6-166EC3AFCBD6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5C45A98-DE26-4834-CE51-F83700A55CF0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88227E1D-6ED4-C05C-0059-8C659FDF70F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B2C8F2F6-B63E-6B4D-1A38-805EA21114C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480B5B25-9ACE-73DF-7F40-47A92DA93CE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98819047-FE75-2837-DE57-A6B5E91A0002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93139A0-36AD-B21D-BEB3-A73019CBD928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E7FF2E-4283-2AA8-8A0B-40C08FEE4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92327CB0-C2A8-F854-1AA6-8142E9CB0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08AF6D2C-A8C5-7184-735F-3EBD497D17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53336F02-78AD-D8B4-B1F7-3E58A517DF5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7AD36D8-420A-6AB2-AF8E-0038EAAB5D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A99B44C-E8AB-0D56-E5B7-640423B11340}"/>
              </a:ext>
            </a:extLst>
          </p:cNvPr>
          <p:cNvSpPr/>
          <p:nvPr/>
        </p:nvSpPr>
        <p:spPr>
          <a:xfrm>
            <a:off x="1335790" y="1228725"/>
            <a:ext cx="8322560" cy="4611505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/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′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AA77F3A-A18C-328E-6C14-2B6456CB4D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52993" y="1027153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 r="-3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C1F2E2AF-538B-4E8E-8125-3039C083DB53}"/>
              </a:ext>
            </a:extLst>
          </p:cNvPr>
          <p:cNvCxnSpPr/>
          <p:nvPr/>
        </p:nvCxnSpPr>
        <p:spPr>
          <a:xfrm flipV="1">
            <a:off x="9029700" y="1396485"/>
            <a:ext cx="0" cy="537092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F22E0356-54C8-1E7C-0A18-9F06BF235EF3}"/>
              </a:ext>
            </a:extLst>
          </p:cNvPr>
          <p:cNvCxnSpPr>
            <a:cxnSpLocks/>
          </p:cNvCxnSpPr>
          <p:nvPr/>
        </p:nvCxnSpPr>
        <p:spPr>
          <a:xfrm>
            <a:off x="6550865" y="6092273"/>
            <a:ext cx="716710" cy="0"/>
          </a:xfrm>
          <a:prstGeom prst="straightConnector1">
            <a:avLst/>
          </a:prstGeom>
          <a:ln w="762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9B4A3A2-2C7A-A537-36EC-461D0C0EF2A7}"/>
              </a:ext>
            </a:extLst>
          </p:cNvPr>
          <p:cNvCxnSpPr>
            <a:cxnSpLocks/>
          </p:cNvCxnSpPr>
          <p:nvPr/>
        </p:nvCxnSpPr>
        <p:spPr>
          <a:xfrm>
            <a:off x="7548260" y="1622336"/>
            <a:ext cx="0" cy="424506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>
            <a:extLst>
              <a:ext uri="{FF2B5EF4-FFF2-40B4-BE49-F238E27FC236}">
                <a16:creationId xmlns:a16="http://schemas.microsoft.com/office/drawing/2014/main" id="{CAD12D76-2E38-3D9C-5EC9-BDBB34453CAA}"/>
              </a:ext>
            </a:extLst>
          </p:cNvPr>
          <p:cNvSpPr/>
          <p:nvPr/>
        </p:nvSpPr>
        <p:spPr>
          <a:xfrm>
            <a:off x="7474394" y="153084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/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∗′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9950171F-38F1-FADA-3A3D-4C9C344E66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67575" y="5916811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98947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8DAAC-1853-2675-0B65-41847080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47B635B0-2824-8D65-EDFF-5F0EF9997154}"/>
              </a:ext>
            </a:extLst>
          </p:cNvPr>
          <p:cNvCxnSpPr>
            <a:cxnSpLocks/>
          </p:cNvCxnSpPr>
          <p:nvPr/>
        </p:nvCxnSpPr>
        <p:spPr>
          <a:xfrm>
            <a:off x="8080057" y="2212786"/>
            <a:ext cx="0" cy="3654615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55AD14EE-901C-192B-8602-5E13E3D98A8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9FB6ED9-8A9A-8F89-47FB-5F2B72E45A5C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61E69A5-513E-2C98-A4BC-B1801DAA5A5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7FE33C1-40D4-2FCB-1C51-B4221440E0B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9AE8362-B342-88B0-120E-47F4D3C0D57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3093A31-DE40-F2B6-EBC2-F38A091C84F3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C7743C0-D4D5-F34E-8A70-755E5D7B5DE6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AF31DFA9-E572-028A-757B-74F500EC26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3F523D1-B7F4-79C9-2A09-C4EF721656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290692B2-E75C-B88F-DD75-B16B7267031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98B00EF4-90A3-898D-8C9B-DB1B56BDEE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3683BC0F-B001-35DD-FB5B-B05485520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FC5AB320-9CF9-7CB3-81B2-225B1ED5A419}"/>
              </a:ext>
            </a:extLst>
          </p:cNvPr>
          <p:cNvSpPr/>
          <p:nvPr/>
        </p:nvSpPr>
        <p:spPr>
          <a:xfrm>
            <a:off x="8006191" y="2121295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FB76BDB1-0A0D-F8E1-0DC3-C7187A09C5D1}"/>
              </a:ext>
            </a:extLst>
          </p:cNvPr>
          <p:cNvSpPr/>
          <p:nvPr/>
        </p:nvSpPr>
        <p:spPr>
          <a:xfrm rot="17821239">
            <a:off x="7648197" y="2014106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Half Frame 15">
            <a:extLst>
              <a:ext uri="{FF2B5EF4-FFF2-40B4-BE49-F238E27FC236}">
                <a16:creationId xmlns:a16="http://schemas.microsoft.com/office/drawing/2014/main" id="{528F5889-FFC1-ED22-8C4B-1C0674A6EBBF}"/>
              </a:ext>
            </a:extLst>
          </p:cNvPr>
          <p:cNvSpPr/>
          <p:nvPr/>
        </p:nvSpPr>
        <p:spPr>
          <a:xfrm rot="17821239">
            <a:off x="7168582" y="2106439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8" name="Half Frame 17">
            <a:extLst>
              <a:ext uri="{FF2B5EF4-FFF2-40B4-BE49-F238E27FC236}">
                <a16:creationId xmlns:a16="http://schemas.microsoft.com/office/drawing/2014/main" id="{EF759F05-14D9-50B5-7C66-89B2FCAEBEE6}"/>
              </a:ext>
            </a:extLst>
          </p:cNvPr>
          <p:cNvSpPr/>
          <p:nvPr/>
        </p:nvSpPr>
        <p:spPr>
          <a:xfrm rot="17749112">
            <a:off x="6690942" y="2207854"/>
            <a:ext cx="407443" cy="396599"/>
          </a:xfrm>
          <a:prstGeom prst="halfFram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/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FC77ACF-C324-76A6-017D-76DC66F6F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70090" y="5899022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54491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EB4EEC-2A00-103C-74EC-D8692DA5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92164ED-969B-37C4-1898-0BECC7F0426F}"/>
              </a:ext>
            </a:extLst>
          </p:cNvPr>
          <p:cNvCxnSpPr>
            <a:cxnSpLocks/>
          </p:cNvCxnSpPr>
          <p:nvPr/>
        </p:nvCxnSpPr>
        <p:spPr>
          <a:xfrm>
            <a:off x="3595571" y="3356423"/>
            <a:ext cx="0" cy="2510978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372CE8E-10DE-B914-3AD2-38838E05D8DF}"/>
              </a:ext>
            </a:extLst>
          </p:cNvPr>
          <p:cNvCxnSpPr>
            <a:cxnSpLocks/>
          </p:cNvCxnSpPr>
          <p:nvPr/>
        </p:nvCxnSpPr>
        <p:spPr>
          <a:xfrm>
            <a:off x="6169866" y="2571960"/>
            <a:ext cx="0" cy="3295441"/>
          </a:xfrm>
          <a:prstGeom prst="line">
            <a:avLst/>
          </a:prstGeom>
          <a:ln w="1905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896B5CA-4FD5-D78A-75E5-EB42D4D82E52}"/>
              </a:ext>
            </a:extLst>
          </p:cNvPr>
          <p:cNvCxnSpPr>
            <a:cxnSpLocks/>
          </p:cNvCxnSpPr>
          <p:nvPr/>
        </p:nvCxnSpPr>
        <p:spPr>
          <a:xfrm flipV="1">
            <a:off x="1307976" y="1152144"/>
            <a:ext cx="6930387" cy="4728209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E799FB-7605-5793-51F8-AEEFBCA6EBE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CCFDDF99-5E18-E2D6-BB60-3B4EF3DDC5F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A52D7785-376A-DE09-5353-5776709FA1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5B9D87B6-4499-5EC1-4D5C-312BC2D5CD15}"/>
              </a:ext>
            </a:extLst>
          </p:cNvPr>
          <p:cNvSpPr/>
          <p:nvPr/>
        </p:nvSpPr>
        <p:spPr>
          <a:xfrm>
            <a:off x="1323974" y="1933577"/>
            <a:ext cx="8515341" cy="3933824"/>
          </a:xfrm>
          <a:custGeom>
            <a:avLst/>
            <a:gdLst>
              <a:gd name="connsiteX0" fmla="*/ 0 w 1352550"/>
              <a:gd name="connsiteY0" fmla="*/ 2066925 h 2066925"/>
              <a:gd name="connsiteX1" fmla="*/ 1352550 w 1352550"/>
              <a:gd name="connsiteY1" fmla="*/ 0 h 2066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1352550" h="2066925">
                <a:moveTo>
                  <a:pt x="0" y="2066925"/>
                </a:moveTo>
                <a:cubicBezTo>
                  <a:pt x="63500" y="1300956"/>
                  <a:pt x="127000" y="534987"/>
                  <a:pt x="1352550" y="0"/>
                </a:cubicBezTo>
              </a:path>
            </a:pathLst>
          </a:custGeom>
          <a:noFill/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4FA84B19-F717-A8DA-E872-EB65D76B9349}"/>
              </a:ext>
            </a:extLst>
          </p:cNvPr>
          <p:cNvSpPr/>
          <p:nvPr/>
        </p:nvSpPr>
        <p:spPr>
          <a:xfrm>
            <a:off x="6096000" y="2480469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/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𝒔𝒇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C08F1573-9518-BFD2-B4C3-A5F00DCAF3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46552" y="172174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 l="-3000" r="-28000"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/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𝒏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𝜹</m:t>
                          </m:r>
                        </m:e>
                      </m:d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63D3C84-1669-428A-6E00-E7374BE519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1244" y="767060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/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F1EF03-1BE6-8480-5AAC-180EFEB761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84716" y="5695306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/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𝒚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𝒇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6C7DB8D1-F948-5553-267C-A561C0760F0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856" y="435340"/>
                <a:ext cx="1134236" cy="369332"/>
              </a:xfrm>
              <a:prstGeom prst="rect">
                <a:avLst/>
              </a:prstGeom>
              <a:blipFill>
                <a:blip r:embed="rId5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/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𝒌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A83B04CA-2BFF-54A2-784C-C08009D37C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65065" y="5907024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Oval 4">
            <a:extLst>
              <a:ext uri="{FF2B5EF4-FFF2-40B4-BE49-F238E27FC236}">
                <a16:creationId xmlns:a16="http://schemas.microsoft.com/office/drawing/2014/main" id="{013D2662-5AA3-9A12-C6F6-9FF5561A815B}"/>
              </a:ext>
            </a:extLst>
          </p:cNvPr>
          <p:cNvSpPr/>
          <p:nvPr/>
        </p:nvSpPr>
        <p:spPr>
          <a:xfrm>
            <a:off x="3521705" y="3264932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/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408CCF87-AB20-5DA3-0BA9-C6DB5BF3B8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10007" y="590702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Half Frame 9">
            <a:extLst>
              <a:ext uri="{FF2B5EF4-FFF2-40B4-BE49-F238E27FC236}">
                <a16:creationId xmlns:a16="http://schemas.microsoft.com/office/drawing/2014/main" id="{D0A50D52-C4EF-722D-6E07-9B10E519FAF5}"/>
              </a:ext>
            </a:extLst>
          </p:cNvPr>
          <p:cNvSpPr/>
          <p:nvPr/>
        </p:nvSpPr>
        <p:spPr>
          <a:xfrm rot="6767591">
            <a:off x="3644093" y="3062694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2" name="Half Frame 11">
            <a:extLst>
              <a:ext uri="{FF2B5EF4-FFF2-40B4-BE49-F238E27FC236}">
                <a16:creationId xmlns:a16="http://schemas.microsoft.com/office/drawing/2014/main" id="{C350BD69-C050-1879-5D15-8CC2A41B7608}"/>
              </a:ext>
            </a:extLst>
          </p:cNvPr>
          <p:cNvSpPr/>
          <p:nvPr/>
        </p:nvSpPr>
        <p:spPr>
          <a:xfrm rot="6860272">
            <a:off x="4108863" y="2884983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Half Frame 13">
            <a:extLst>
              <a:ext uri="{FF2B5EF4-FFF2-40B4-BE49-F238E27FC236}">
                <a16:creationId xmlns:a16="http://schemas.microsoft.com/office/drawing/2014/main" id="{A29F9D81-CD26-9663-5E44-A45E5E535BF1}"/>
              </a:ext>
            </a:extLst>
          </p:cNvPr>
          <p:cNvSpPr/>
          <p:nvPr/>
        </p:nvSpPr>
        <p:spPr>
          <a:xfrm rot="6801423">
            <a:off x="4554994" y="2745712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Half Frame 14">
            <a:extLst>
              <a:ext uri="{FF2B5EF4-FFF2-40B4-BE49-F238E27FC236}">
                <a16:creationId xmlns:a16="http://schemas.microsoft.com/office/drawing/2014/main" id="{7C638A47-453F-C377-FD61-E312014A79C3}"/>
              </a:ext>
            </a:extLst>
          </p:cNvPr>
          <p:cNvSpPr/>
          <p:nvPr/>
        </p:nvSpPr>
        <p:spPr>
          <a:xfrm rot="7290787">
            <a:off x="5035381" y="2598726"/>
            <a:ext cx="407443" cy="396599"/>
          </a:xfrm>
          <a:prstGeom prst="halfFram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737292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42D9E47-D892-1DAD-68B4-E7C1C1D0E6D6}"/>
              </a:ext>
            </a:extLst>
          </p:cNvPr>
          <p:cNvCxnSpPr>
            <a:cxnSpLocks/>
          </p:cNvCxnSpPr>
          <p:nvPr/>
        </p:nvCxnSpPr>
        <p:spPr>
          <a:xfrm flipV="1">
            <a:off x="5617029" y="3706836"/>
            <a:ext cx="0" cy="2200188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FAC75B85-168A-6337-552D-EC9890F20A81}"/>
              </a:ext>
            </a:extLst>
          </p:cNvPr>
          <p:cNvCxnSpPr>
            <a:cxnSpLocks/>
          </p:cNvCxnSpPr>
          <p:nvPr/>
        </p:nvCxnSpPr>
        <p:spPr>
          <a:xfrm flipV="1">
            <a:off x="3783875" y="3297066"/>
            <a:ext cx="0" cy="2582906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91062C6D-FE49-268B-1BB1-717D4E25C04E}"/>
              </a:ext>
            </a:extLst>
          </p:cNvPr>
          <p:cNvCxnSpPr>
            <a:cxnSpLocks/>
          </p:cNvCxnSpPr>
          <p:nvPr/>
        </p:nvCxnSpPr>
        <p:spPr>
          <a:xfrm>
            <a:off x="1335789" y="3297066"/>
            <a:ext cx="244808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CF87927-AC59-BD11-AEFA-4A86794337F4}"/>
              </a:ext>
            </a:extLst>
          </p:cNvPr>
          <p:cNvCxnSpPr>
            <a:cxnSpLocks/>
          </p:cNvCxnSpPr>
          <p:nvPr/>
        </p:nvCxnSpPr>
        <p:spPr>
          <a:xfrm>
            <a:off x="1335789" y="3706836"/>
            <a:ext cx="4281239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1925731C-2E71-2071-8BE4-630ED06B9E7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E79B95-F02A-5C8B-2398-E0530D84F68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4DAA185E-B917-4A93-3425-C04D1E9A06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" name="Freeform 7">
            <a:extLst>
              <a:ext uri="{FF2B5EF4-FFF2-40B4-BE49-F238E27FC236}">
                <a16:creationId xmlns:a16="http://schemas.microsoft.com/office/drawing/2014/main" id="{399A4BB7-A917-FF6E-3D36-F0C917A277F7}"/>
              </a:ext>
            </a:extLst>
          </p:cNvPr>
          <p:cNvSpPr/>
          <p:nvPr/>
        </p:nvSpPr>
        <p:spPr>
          <a:xfrm>
            <a:off x="2646206" y="2089294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38AF82C-9C35-E842-1678-31547E269781}"/>
              </a:ext>
            </a:extLst>
          </p:cNvPr>
          <p:cNvSpPr/>
          <p:nvPr/>
        </p:nvSpPr>
        <p:spPr>
          <a:xfrm>
            <a:off x="2995748" y="2724308"/>
            <a:ext cx="6200503" cy="1676879"/>
          </a:xfrm>
          <a:custGeom>
            <a:avLst/>
            <a:gdLst>
              <a:gd name="connsiteX0" fmla="*/ 0 w 6200503"/>
              <a:gd name="connsiteY0" fmla="*/ 0 h 1676879"/>
              <a:gd name="connsiteX1" fmla="*/ 3457303 w 6200503"/>
              <a:gd name="connsiteY1" fmla="*/ 1672046 h 1676879"/>
              <a:gd name="connsiteX2" fmla="*/ 6200503 w 6200503"/>
              <a:gd name="connsiteY2" fmla="*/ 409303 h 1676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6200503" h="1676879">
                <a:moveTo>
                  <a:pt x="0" y="0"/>
                </a:moveTo>
                <a:cubicBezTo>
                  <a:pt x="1211943" y="801914"/>
                  <a:pt x="2423886" y="1603829"/>
                  <a:pt x="3457303" y="1672046"/>
                </a:cubicBezTo>
                <a:cubicBezTo>
                  <a:pt x="4490720" y="1740263"/>
                  <a:pt x="5345611" y="1074783"/>
                  <a:pt x="6200503" y="409303"/>
                </a:cubicBezTo>
              </a:path>
            </a:pathLst>
          </a:cu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/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D4315148-4388-2D7D-14CC-1BACF8A0E1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21625" y="2175534"/>
                <a:ext cx="1134237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/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𝑨𝑻</m:t>
                      </m:r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76EF01D-0437-A528-C363-33B94CB81B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09156" y="2927734"/>
                <a:ext cx="1134237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/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$/</m:t>
                      </m:r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𝒖𝒏𝒊𝒕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3E7BB5E-A1E6-4837-D8E7-6A6AA2B6C3D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70" y="435340"/>
                <a:ext cx="1134237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/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𝑸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8AA51F3-ADC4-88D0-C056-7FF3D1D611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2088" y="5722358"/>
                <a:ext cx="1134237" cy="369332"/>
              </a:xfrm>
              <a:prstGeom prst="rect">
                <a:avLst/>
              </a:prstGeom>
              <a:blipFill>
                <a:blip r:embed="rId5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/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30395BE-3F34-7068-6CEE-693FD3056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49909" y="5947461"/>
                <a:ext cx="1134237" cy="369332"/>
              </a:xfrm>
              <a:prstGeom prst="rect">
                <a:avLst/>
              </a:prstGeom>
              <a:blipFill>
                <a:blip r:embed="rId6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/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049F5E24-7AC7-4B93-EE8A-A2E591BA52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16756" y="5947462"/>
                <a:ext cx="1134237" cy="369332"/>
              </a:xfrm>
              <a:prstGeom prst="rect">
                <a:avLst/>
              </a:prstGeom>
              <a:blipFill>
                <a:blip r:embed="rId7"/>
                <a:stretch>
                  <a:fillRect b="-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8" name="Oval 27">
            <a:extLst>
              <a:ext uri="{FF2B5EF4-FFF2-40B4-BE49-F238E27FC236}">
                <a16:creationId xmlns:a16="http://schemas.microsoft.com/office/drawing/2014/main" id="{7B847CE6-3F7E-9911-B52A-93E2AE789DCD}"/>
              </a:ext>
            </a:extLst>
          </p:cNvPr>
          <p:cNvSpPr/>
          <p:nvPr/>
        </p:nvSpPr>
        <p:spPr>
          <a:xfrm>
            <a:off x="3728486" y="3188286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1D7DEC-6C55-B04A-EF45-E36EC97A1C89}"/>
              </a:ext>
            </a:extLst>
          </p:cNvPr>
          <p:cNvSpPr/>
          <p:nvPr/>
        </p:nvSpPr>
        <p:spPr>
          <a:xfrm>
            <a:off x="5534455" y="358895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/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F27864EE-0230-2014-D924-3139CD12A9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7" y="3093899"/>
                <a:ext cx="1134237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/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𝑪𝒐𝒔𝒕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811E1B57-62A0-721B-0427-2B499F5008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606" y="3500493"/>
                <a:ext cx="1134237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14363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F4D7E7-FB3F-7200-179D-35D67C4E4B9A}"/>
              </a:ext>
            </a:extLst>
          </p:cNvPr>
          <p:cNvCxnSpPr>
            <a:cxnSpLocks/>
          </p:cNvCxnSpPr>
          <p:nvPr/>
        </p:nvCxnSpPr>
        <p:spPr>
          <a:xfrm flipV="1">
            <a:off x="4535361" y="3847171"/>
            <a:ext cx="0" cy="2032801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36AE7060-3674-AD94-1648-EB0E1E430E51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4A8961A-BD11-83EB-B13E-42E0F4BD83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4CF508D-64F2-8460-DC17-444A3B56F61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E8F4A5C1-4EC1-378F-86C1-A4E947DD60A1}"/>
              </a:ext>
            </a:extLst>
          </p:cNvPr>
          <p:cNvCxnSpPr>
            <a:cxnSpLocks/>
          </p:cNvCxnSpPr>
          <p:nvPr/>
        </p:nvCxnSpPr>
        <p:spPr>
          <a:xfrm flipV="1">
            <a:off x="1307976" y="804672"/>
            <a:ext cx="8081351" cy="507568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B1DF412-5B60-26F4-277D-D04F77A738C5}"/>
              </a:ext>
            </a:extLst>
          </p:cNvPr>
          <p:cNvSpPr txBox="1"/>
          <p:nvPr/>
        </p:nvSpPr>
        <p:spPr>
          <a:xfrm rot="16200000">
            <a:off x="-1158394" y="2987777"/>
            <a:ext cx="407019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Individual Investment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FA629B-2CF4-357B-3EC0-FE2A4625E870}"/>
              </a:ext>
            </a:extLst>
          </p:cNvPr>
          <p:cNvSpPr txBox="1"/>
          <p:nvPr/>
        </p:nvSpPr>
        <p:spPr>
          <a:xfrm>
            <a:off x="6271574" y="6027980"/>
            <a:ext cx="345229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Average Investment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/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EBDE9F-4BB2-F66F-4676-3BF8BE953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0561" y="602798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Freeform 16">
            <a:extLst>
              <a:ext uri="{FF2B5EF4-FFF2-40B4-BE49-F238E27FC236}">
                <a16:creationId xmlns:a16="http://schemas.microsoft.com/office/drawing/2014/main" id="{CBA51270-9D56-F9B4-93F2-3B38B988631E}"/>
              </a:ext>
            </a:extLst>
          </p:cNvPr>
          <p:cNvSpPr/>
          <p:nvPr/>
        </p:nvSpPr>
        <p:spPr>
          <a:xfrm>
            <a:off x="1349299" y="1059370"/>
            <a:ext cx="8541834" cy="4293215"/>
          </a:xfrm>
          <a:custGeom>
            <a:avLst/>
            <a:gdLst>
              <a:gd name="connsiteX0" fmla="*/ 0 w 9177453"/>
              <a:gd name="connsiteY0" fmla="*/ 4832345 h 4832345"/>
              <a:gd name="connsiteX1" fmla="*/ 1984917 w 9177453"/>
              <a:gd name="connsiteY1" fmla="*/ 4486658 h 4832345"/>
              <a:gd name="connsiteX2" fmla="*/ 2587082 w 9177453"/>
              <a:gd name="connsiteY2" fmla="*/ 2836277 h 4832345"/>
              <a:gd name="connsiteX3" fmla="*/ 5843239 w 9177453"/>
              <a:gd name="connsiteY3" fmla="*/ 2044540 h 4832345"/>
              <a:gd name="connsiteX4" fmla="*/ 7014117 w 9177453"/>
              <a:gd name="connsiteY4" fmla="*/ 204589 h 4832345"/>
              <a:gd name="connsiteX5" fmla="*/ 9177453 w 9177453"/>
              <a:gd name="connsiteY5" fmla="*/ 126531 h 4832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77453" h="4832345">
                <a:moveTo>
                  <a:pt x="0" y="4832345"/>
                </a:moveTo>
                <a:cubicBezTo>
                  <a:pt x="776868" y="4825840"/>
                  <a:pt x="1553737" y="4819336"/>
                  <a:pt x="1984917" y="4486658"/>
                </a:cubicBezTo>
                <a:cubicBezTo>
                  <a:pt x="2416097" y="4153980"/>
                  <a:pt x="1944029" y="3243297"/>
                  <a:pt x="2587082" y="2836277"/>
                </a:cubicBezTo>
                <a:cubicBezTo>
                  <a:pt x="3230135" y="2429257"/>
                  <a:pt x="5105400" y="2483155"/>
                  <a:pt x="5843239" y="2044540"/>
                </a:cubicBezTo>
                <a:cubicBezTo>
                  <a:pt x="6581078" y="1605925"/>
                  <a:pt x="6458415" y="524257"/>
                  <a:pt x="7014117" y="204589"/>
                </a:cubicBezTo>
                <a:cubicBezTo>
                  <a:pt x="7569819" y="-115079"/>
                  <a:pt x="8373636" y="5726"/>
                  <a:pt x="9177453" y="126531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61421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DF9DB67-769D-3764-A391-03792291D44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C8AFC6-535F-B2CB-6E9A-9851DEB72E1D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5140AB92-978F-B1C3-1927-B3617A3D4F01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8D9E73C0-7BDF-7BE0-470A-EAB3D9816CBD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1A25349E-9E41-B536-9B8F-282D3B45D362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CC8264A2-E3FB-0854-DE81-AB209B03CF0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73585855-8E30-ACC7-A093-C8E43ED8FB56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A61EF11-3A3B-E352-61FA-6DCE4D124EBA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DA6F36-FB29-2CE7-065F-63EEBEF2363C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2FA126C-2359-B1AB-C03B-AB4536E41DDD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C5F692-7162-212A-894C-F708E60756CE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942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D7D2BE-6F43-4194-D8E4-B43F8A5C396C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277E06C-D1FF-BDBE-13DC-9CC9E163634B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F8D2E50A-E00C-46B2-ECC0-772C60EEB28D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7D416059-BEB8-DEBF-4724-73C737D4BEFF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3AF7D46D-4C90-CFBD-CC21-F5CB69D606BB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EC75ECE7-01E5-B0BA-E5FD-B9C987A644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ED5AEB8-3D85-FFF8-D75E-64578E8245D1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D1B2619-A12A-EC13-3F5C-32315908C787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1E30C12-4CA4-6CAF-8A7A-248BC997C845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/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322617FE-239B-9713-E588-A6EF91FA3B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82681" y="3650310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010" t="-2740" b="-109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52E3BFBA-BB09-0BC1-670A-7A2AC9DDC268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E70B12DA-E0A8-F13E-708A-1154CB4D0298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083B110-6A70-20D2-C3BE-43DC94E804ED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168C2772-D0DD-6707-75B3-08B5A319B9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76866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8F7DC21-6BA3-8472-7EE7-E22EFBCDDFEA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ED3A756-1184-0754-788C-F3935FCB0C5F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342D5D42-1F16-5DA3-9BDA-6119C66538D0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3283ABA-2B68-7DC8-4A54-C0A3CFEF5D44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2874B9C9-001F-7838-189E-71A07FCDD798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BFF5613-CD33-3B97-7DF8-6D079B4363C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51D2227F-3D25-F839-E2BB-E450C3E328CA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D80EC04-176F-50A7-02F0-4AEAD6BC451C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9E96600-5A0E-4037-8A83-D320CB0E9EE9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/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b="1" dirty="0">
                    <a:solidFill>
                      <a:srgbClr val="FFC000"/>
                    </a:solidFill>
                  </a:rPr>
                  <a:t>0.6 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C000"/>
                        </a:solidFill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b="1" dirty="0">
                    <a:solidFill>
                      <a:srgbClr val="FFC000"/>
                    </a:solidFill>
                  </a:rPr>
                  <a:t> Value of Marginal Product of Labor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A3B5B517-22F2-D04E-5CA6-90B917D6B5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38575" y="4868102"/>
                <a:ext cx="2514850" cy="923330"/>
              </a:xfrm>
              <a:prstGeom prst="rect">
                <a:avLst/>
              </a:prstGeom>
              <a:blipFill>
                <a:blip r:embed="rId2"/>
                <a:stretch>
                  <a:fillRect l="-2525" t="-2703" b="-94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01FA8328-7FE3-D634-AA4B-1E6282D9483A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6D85741-B9B9-2505-3A3B-D32EA4185FAF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9B611504-BDBB-8EFE-33F3-5366978673E1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37AFF45-D622-0470-77A3-3A38376E5209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5D302D86-BF42-BBD3-1C36-06F794DA8654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68B495D-7F3A-46AB-D02E-0FD13E7DC8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4824D4C-677A-839F-B359-639B59B5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52182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6D3701-635B-C05F-AE94-9084E64D52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733D9148-EB2D-2B56-F9AB-F8DFF9BEE5B3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riangle 1">
            <a:extLst>
              <a:ext uri="{FF2B5EF4-FFF2-40B4-BE49-F238E27FC236}">
                <a16:creationId xmlns:a16="http://schemas.microsoft.com/office/drawing/2014/main" id="{C1A2355D-2193-A6F5-3DF1-F852BDEC49D9}"/>
              </a:ext>
            </a:extLst>
          </p:cNvPr>
          <p:cNvSpPr/>
          <p:nvPr/>
        </p:nvSpPr>
        <p:spPr>
          <a:xfrm>
            <a:off x="1335788" y="1382750"/>
            <a:ext cx="3175247" cy="1857497"/>
          </a:xfrm>
          <a:prstGeom prst="triangle">
            <a:avLst>
              <a:gd name="adj" fmla="val 0"/>
            </a:avLst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90F3B56-62A1-CC7B-1BA3-206F2D562198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C2114F5-A449-4BF1-4993-CD3CE23D3648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34CBED17-2BF0-952B-E64A-7E7B51064CAA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89F23CD3-05AB-02C6-6828-D89DD9FA6E5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FF40AF90-A19B-0A5D-31E5-494274232B6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AA9EAB98-687C-63E1-B8BE-339B5C40207D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E408865-A8D1-C1BD-045F-2EF24AC48AA0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755126-311C-7DDD-3FD8-E8F9166947F1}"/>
              </a:ext>
            </a:extLst>
          </p:cNvPr>
          <p:cNvSpPr txBox="1"/>
          <p:nvPr/>
        </p:nvSpPr>
        <p:spPr>
          <a:xfrm>
            <a:off x="3346706" y="932375"/>
            <a:ext cx="293826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Profit from Working on the Farm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1C6A9A1-A00E-82DE-69DC-58281BCF2F3B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13F7D2CD-784C-39CF-00AF-160A822D9AA6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0CD7954-4D5B-F845-8E0E-31924818DADD}"/>
              </a:ext>
            </a:extLst>
          </p:cNvPr>
          <p:cNvCxnSpPr>
            <a:cxnSpLocks/>
          </p:cNvCxnSpPr>
          <p:nvPr/>
        </p:nvCxnSpPr>
        <p:spPr>
          <a:xfrm flipV="1">
            <a:off x="2127797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352E136E-46E2-F92A-5257-7958DF481F6A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9414D245-3A6B-1FE1-F1D4-AD148C272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B955334-893C-2344-207D-23731A36DA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8C1EAE47-39B4-502F-2609-78DBBE6F0E49}"/>
              </a:ext>
            </a:extLst>
          </p:cNvPr>
          <p:cNvSpPr txBox="1"/>
          <p:nvPr/>
        </p:nvSpPr>
        <p:spPr>
          <a:xfrm>
            <a:off x="6096000" y="387854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Value of Marginal Product of Labor</a:t>
            </a:r>
          </a:p>
        </p:txBody>
      </p:sp>
    </p:spTree>
    <p:extLst>
      <p:ext uri="{BB962C8B-B14F-4D97-AF65-F5344CB8AC3E}">
        <p14:creationId xmlns:p14="http://schemas.microsoft.com/office/powerpoint/2010/main" val="958963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5AF938-985F-14E5-70DA-9CBC469B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riangle 23">
            <a:extLst>
              <a:ext uri="{FF2B5EF4-FFF2-40B4-BE49-F238E27FC236}">
                <a16:creationId xmlns:a16="http://schemas.microsoft.com/office/drawing/2014/main" id="{292035BC-5862-F8B4-DDAA-7ABCE49806FA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1784656-4C1A-F6A6-0B44-ED89CBD0327E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7B0CAD31-6FE3-AFB5-7363-8781E07FCFBF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C9FCBEB-0EAC-6012-2239-7158E98A8F7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1BA8A74-2641-6FAA-F51D-0555583B37A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E28D2EFD-04C5-1CD2-5658-361F7E25DCAA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2BABBBE-44C4-56C7-8357-5B7D5B8C16EB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3C2C411C-CEE6-8411-4FE4-74CC79FFDC9A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1FA33C24-A0A9-754E-4C84-8985934D43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68AA95C1-AA9B-F849-37F4-95EEE15A105E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706FF4F-A5B6-0CC6-6EF5-6996B0059EE1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369768E-1BDA-1FBD-6479-FE2BD4E4B500}"/>
              </a:ext>
            </a:extLst>
          </p:cNvPr>
          <p:cNvSpPr txBox="1"/>
          <p:nvPr/>
        </p:nvSpPr>
        <p:spPr>
          <a:xfrm>
            <a:off x="1682681" y="1094090"/>
            <a:ext cx="37689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2C5036-01D0-5B52-B37F-4D0787E69DBA}"/>
              </a:ext>
            </a:extLst>
          </p:cNvPr>
          <p:cNvSpPr txBox="1"/>
          <p:nvPr/>
        </p:nvSpPr>
        <p:spPr>
          <a:xfrm>
            <a:off x="2146844" y="2619640"/>
            <a:ext cx="302512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ECBF0A-F0BB-9EA0-3A11-2418990596D1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587EA9-7C85-BD9F-0A99-A887E651D46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68B1906A-1DC3-B867-A623-7DC0D7545AA8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FD2E8DA0-E8AD-14A3-A894-26FECBB6D7A9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6D06C612-77F0-0530-CD91-4C2FEDF27DF5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0EF41FF-B5A4-B199-3AA6-2D9236B522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60C1EAE-4E2F-AC10-F815-B7B09882D3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373667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C1D0F3-1E57-C39F-4D41-F9864B8F35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riangle 1">
            <a:extLst>
              <a:ext uri="{FF2B5EF4-FFF2-40B4-BE49-F238E27FC236}">
                <a16:creationId xmlns:a16="http://schemas.microsoft.com/office/drawing/2014/main" id="{B3894A9F-7134-2975-F6B9-B239350DC68C}"/>
              </a:ext>
            </a:extLst>
          </p:cNvPr>
          <p:cNvSpPr/>
          <p:nvPr/>
        </p:nvSpPr>
        <p:spPr>
          <a:xfrm>
            <a:off x="2127790" y="1858644"/>
            <a:ext cx="2350992" cy="1408659"/>
          </a:xfrm>
          <a:prstGeom prst="triangle">
            <a:avLst>
              <a:gd name="adj" fmla="val 0"/>
            </a:avLst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925F9E1F-F99E-EB1A-A643-DC2301365E63}"/>
              </a:ext>
            </a:extLst>
          </p:cNvPr>
          <p:cNvSpPr/>
          <p:nvPr/>
        </p:nvSpPr>
        <p:spPr>
          <a:xfrm>
            <a:off x="1335784" y="1407595"/>
            <a:ext cx="792006" cy="458569"/>
          </a:xfrm>
          <a:prstGeom prst="triangle">
            <a:avLst>
              <a:gd name="adj" fmla="val 0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C194A7C-6C8B-69AE-48D5-C4E273158CC0}"/>
              </a:ext>
            </a:extLst>
          </p:cNvPr>
          <p:cNvSpPr/>
          <p:nvPr/>
        </p:nvSpPr>
        <p:spPr>
          <a:xfrm>
            <a:off x="1335789" y="1866165"/>
            <a:ext cx="792003" cy="1374091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riangle 2">
            <a:extLst>
              <a:ext uri="{FF2B5EF4-FFF2-40B4-BE49-F238E27FC236}">
                <a16:creationId xmlns:a16="http://schemas.microsoft.com/office/drawing/2014/main" id="{6E5C5D82-D8F7-D091-C381-1249CD77E311}"/>
              </a:ext>
            </a:extLst>
          </p:cNvPr>
          <p:cNvSpPr/>
          <p:nvPr/>
        </p:nvSpPr>
        <p:spPr>
          <a:xfrm>
            <a:off x="1316735" y="2943923"/>
            <a:ext cx="792005" cy="296334"/>
          </a:xfrm>
          <a:prstGeom prst="triangle">
            <a:avLst>
              <a:gd name="adj" fmla="val 1894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9E6A04-0B2A-7D39-ECF5-2B51FC860C6B}"/>
              </a:ext>
            </a:extLst>
          </p:cNvPr>
          <p:cNvCxnSpPr>
            <a:cxnSpLocks/>
          </p:cNvCxnSpPr>
          <p:nvPr/>
        </p:nvCxnSpPr>
        <p:spPr>
          <a:xfrm>
            <a:off x="1316736" y="3267307"/>
            <a:ext cx="876396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966E086-C6C1-5F09-E494-74CA4F913C54}"/>
              </a:ext>
            </a:extLst>
          </p:cNvPr>
          <p:cNvCxnSpPr>
            <a:cxnSpLocks/>
          </p:cNvCxnSpPr>
          <p:nvPr/>
        </p:nvCxnSpPr>
        <p:spPr>
          <a:xfrm>
            <a:off x="1297684" y="1382751"/>
            <a:ext cx="7679048" cy="4497221"/>
          </a:xfrm>
          <a:prstGeom prst="line">
            <a:avLst/>
          </a:prstGeom>
          <a:ln w="381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155549AC-705E-F24E-0D7B-98840E5F6CDC}"/>
              </a:ext>
            </a:extLst>
          </p:cNvPr>
          <p:cNvCxnSpPr>
            <a:cxnSpLocks/>
          </p:cNvCxnSpPr>
          <p:nvPr/>
        </p:nvCxnSpPr>
        <p:spPr>
          <a:xfrm>
            <a:off x="1335789" y="2943922"/>
            <a:ext cx="7640943" cy="2936050"/>
          </a:xfrm>
          <a:prstGeom prst="line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AB256D1C-B15D-B35D-145B-BBAE1BC3FCA6}"/>
              </a:ext>
            </a:extLst>
          </p:cNvPr>
          <p:cNvGrpSpPr/>
          <p:nvPr/>
        </p:nvGrpSpPr>
        <p:grpSpPr>
          <a:xfrm>
            <a:off x="1297684" y="804672"/>
            <a:ext cx="9089136" cy="5102352"/>
            <a:chOff x="1297684" y="804672"/>
            <a:chExt cx="9089136" cy="5102352"/>
          </a:xfrm>
        </p:grpSpPr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D88E9D05-8220-B3C3-DECC-D0F3BB85D2E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0274D75B-44DA-8B4A-7508-22CD187A6AA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275B12E0-B95C-232C-A4EC-8CF3F3C3D1D9}"/>
              </a:ext>
            </a:extLst>
          </p:cNvPr>
          <p:cNvSpPr txBox="1"/>
          <p:nvPr/>
        </p:nvSpPr>
        <p:spPr>
          <a:xfrm rot="16200000">
            <a:off x="141319" y="1278446"/>
            <a:ext cx="147076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Output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5235DA-9BD8-02F9-D7E7-5E26BC773FB5}"/>
              </a:ext>
            </a:extLst>
          </p:cNvPr>
          <p:cNvSpPr txBox="1"/>
          <p:nvPr/>
        </p:nvSpPr>
        <p:spPr>
          <a:xfrm>
            <a:off x="9175926" y="6039131"/>
            <a:ext cx="12108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Labor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FA9584D-68B7-2047-766C-3C91C68B0658}"/>
              </a:ext>
            </a:extLst>
          </p:cNvPr>
          <p:cNvSpPr txBox="1"/>
          <p:nvPr/>
        </p:nvSpPr>
        <p:spPr>
          <a:xfrm>
            <a:off x="1682681" y="1094090"/>
            <a:ext cx="37689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</a:rPr>
              <a:t>Landlord Profit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5741ED7-0993-539F-F56F-1B7E1EA9392F}"/>
              </a:ext>
            </a:extLst>
          </p:cNvPr>
          <p:cNvSpPr txBox="1"/>
          <p:nvPr/>
        </p:nvSpPr>
        <p:spPr>
          <a:xfrm>
            <a:off x="336449" y="2942761"/>
            <a:ext cx="99933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Farmer Profit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B28F70-FA0D-F568-74DA-E65CE22116D9}"/>
              </a:ext>
            </a:extLst>
          </p:cNvPr>
          <p:cNvSpPr txBox="1"/>
          <p:nvPr/>
        </p:nvSpPr>
        <p:spPr>
          <a:xfrm>
            <a:off x="7125320" y="2541178"/>
            <a:ext cx="37689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Wage of Outside Option (Opportunity Cost of Farming)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9045E1-4F7A-845E-9DE7-1A315BD4A804}"/>
              </a:ext>
            </a:extLst>
          </p:cNvPr>
          <p:cNvCxnSpPr>
            <a:cxnSpLocks/>
          </p:cNvCxnSpPr>
          <p:nvPr/>
        </p:nvCxnSpPr>
        <p:spPr>
          <a:xfrm flipV="1">
            <a:off x="4511040" y="3355848"/>
            <a:ext cx="0" cy="252412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F9A452B6-D62B-79C5-7B5B-80BFEDC62515}"/>
              </a:ext>
            </a:extLst>
          </p:cNvPr>
          <p:cNvSpPr/>
          <p:nvPr/>
        </p:nvSpPr>
        <p:spPr>
          <a:xfrm>
            <a:off x="4437175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0B3FB9D-79A5-F5B8-9A21-ACD9749B44CB}"/>
              </a:ext>
            </a:extLst>
          </p:cNvPr>
          <p:cNvCxnSpPr>
            <a:cxnSpLocks/>
          </p:cNvCxnSpPr>
          <p:nvPr/>
        </p:nvCxnSpPr>
        <p:spPr>
          <a:xfrm flipV="1">
            <a:off x="2127797" y="1910080"/>
            <a:ext cx="0" cy="3969892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>
            <a:extLst>
              <a:ext uri="{FF2B5EF4-FFF2-40B4-BE49-F238E27FC236}">
                <a16:creationId xmlns:a16="http://schemas.microsoft.com/office/drawing/2014/main" id="{B993B6DA-41DE-8E8E-E166-2080D6AB07D6}"/>
              </a:ext>
            </a:extLst>
          </p:cNvPr>
          <p:cNvSpPr/>
          <p:nvPr/>
        </p:nvSpPr>
        <p:spPr>
          <a:xfrm>
            <a:off x="2053932" y="3201067"/>
            <a:ext cx="147731" cy="15478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/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E98C7CCC-1089-0CE2-8B70-EDB364F61FF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6240" y="5968512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/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𝑵𝑬𝑾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091028B-0066-D2D1-47A2-EDDF5C995D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2997" y="5931409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 r="-122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TextBox 20">
            <a:extLst>
              <a:ext uri="{FF2B5EF4-FFF2-40B4-BE49-F238E27FC236}">
                <a16:creationId xmlns:a16="http://schemas.microsoft.com/office/drawing/2014/main" id="{3B3EC6CA-3C0D-2CA2-640A-1D93E22C3A03}"/>
              </a:ext>
            </a:extLst>
          </p:cNvPr>
          <p:cNvSpPr txBox="1"/>
          <p:nvPr/>
        </p:nvSpPr>
        <p:spPr>
          <a:xfrm>
            <a:off x="3664914" y="1807208"/>
            <a:ext cx="26067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00B0F0"/>
                </a:solidFill>
              </a:rPr>
              <a:t>Deadweight Loss</a:t>
            </a:r>
          </a:p>
        </p:txBody>
      </p:sp>
    </p:spTree>
    <p:extLst>
      <p:ext uri="{BB962C8B-B14F-4D97-AF65-F5344CB8AC3E}">
        <p14:creationId xmlns:p14="http://schemas.microsoft.com/office/powerpoint/2010/main" val="3915199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2042F24-8C9E-D3DA-60E2-1A1955CD00BC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55152A7-8C70-1AF6-4FFC-01BD8F8AE66F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98DC8A5-445A-530D-398F-E00A4565AC7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3D5062A7-9993-FA9E-2BD4-4671CE3CD66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F28B8E2-9871-8FC7-5DDE-855D56270F66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12B8E032-6ABC-B56D-BA19-D9A66B2783C3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C94A046E-A476-36F0-DDEC-958933634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D65EF76C-E578-6E9B-E0C2-011B71E2B3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91562369-4C2C-6041-4724-75BA3B358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Freeform 21">
            <a:extLst>
              <a:ext uri="{FF2B5EF4-FFF2-40B4-BE49-F238E27FC236}">
                <a16:creationId xmlns:a16="http://schemas.microsoft.com/office/drawing/2014/main" id="{84BBD803-58C5-8568-2F11-3441929451F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22">
            <a:extLst>
              <a:ext uri="{FF2B5EF4-FFF2-40B4-BE49-F238E27FC236}">
                <a16:creationId xmlns:a16="http://schemas.microsoft.com/office/drawing/2014/main" id="{771789B3-53E1-6B32-390A-1DA8D85634EF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966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DE4498-D5BB-77B8-3E4C-719B8644F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3013342-5AFF-B53E-3DB7-A5DBC8D37B8A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AC696FE-BD2D-B2D3-DF43-BCB0E0A58EF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F8920B9B-D19E-73B9-979D-19BBBD9920A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BFFD8526-4004-1215-BB9C-A816106A8E08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CF4C4F0-FB44-6AA8-2393-EA05B33836DB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AB18C64-49DE-DC5F-A3F3-7131EF0F6D87}"/>
              </a:ext>
            </a:extLst>
          </p:cNvPr>
          <p:cNvCxnSpPr>
            <a:cxnSpLocks/>
          </p:cNvCxnSpPr>
          <p:nvPr/>
        </p:nvCxnSpPr>
        <p:spPr>
          <a:xfrm flipV="1">
            <a:off x="1817649" y="1817649"/>
            <a:ext cx="5960483" cy="3590692"/>
          </a:xfrm>
          <a:prstGeom prst="straightConnector1">
            <a:avLst/>
          </a:prstGeom>
          <a:ln w="1270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7D41FEA-9242-75C2-1CF6-2323337BA430}"/>
              </a:ext>
            </a:extLst>
          </p:cNvPr>
          <p:cNvSpPr txBox="1"/>
          <p:nvPr/>
        </p:nvSpPr>
        <p:spPr>
          <a:xfrm rot="19795673">
            <a:off x="4653887" y="2297140"/>
            <a:ext cx="300479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C00000"/>
                </a:solidFill>
              </a:rPr>
              <a:t>Better (Higher Utility)</a:t>
            </a:r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5337DE1C-88FC-2B5B-9CE5-36ABC60E3DB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34FF8B54-7332-BC78-58CE-16FFCE2EF7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F5ADD293-FCD0-671E-FA48-3E730F13C9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/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𝟑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DF464FA-03F5-3AE2-E72B-DD53A9CAB0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0031" y="116944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Freeform 40">
            <a:extLst>
              <a:ext uri="{FF2B5EF4-FFF2-40B4-BE49-F238E27FC236}">
                <a16:creationId xmlns:a16="http://schemas.microsoft.com/office/drawing/2014/main" id="{8D5FDD4D-32FF-631D-4FB8-20E5E045CED6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 41">
            <a:extLst>
              <a:ext uri="{FF2B5EF4-FFF2-40B4-BE49-F238E27FC236}">
                <a16:creationId xmlns:a16="http://schemas.microsoft.com/office/drawing/2014/main" id="{3D20A22A-DB4D-53C2-89BD-7CE9C2E93AA8}"/>
              </a:ext>
            </a:extLst>
          </p:cNvPr>
          <p:cNvSpPr/>
          <p:nvPr/>
        </p:nvSpPr>
        <p:spPr>
          <a:xfrm>
            <a:off x="4327290" y="1349854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4171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3110E07F-B658-E259-32B0-26037B814A99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167BA7BB-D0E9-0E64-785C-40C075DD603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061707-38A2-9AC4-D030-05ACE530F6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CE00D236-7F96-2C9E-7FD2-12F6A47BA69F}"/>
              </a:ext>
            </a:extLst>
          </p:cNvPr>
          <p:cNvSpPr txBox="1"/>
          <p:nvPr/>
        </p:nvSpPr>
        <p:spPr>
          <a:xfrm rot="16200000">
            <a:off x="79097" y="1362973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EC1822-0A24-63E4-56A5-0734D3FF08FF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4798C55B-95A6-956D-A3A4-5A8D00D50CC8}"/>
              </a:ext>
            </a:extLst>
          </p:cNvPr>
          <p:cNvCxnSpPr>
            <a:cxnSpLocks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21EBCE5-9ECB-11B2-2AB7-308F19EF6B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CD94B9DB-8113-FE55-AD7C-0A0A9B0BA5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43503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48AAF-C1EA-2BC5-4E58-16FC0AFC54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Freeform 30">
            <a:extLst>
              <a:ext uri="{FF2B5EF4-FFF2-40B4-BE49-F238E27FC236}">
                <a16:creationId xmlns:a16="http://schemas.microsoft.com/office/drawing/2014/main" id="{B533CDDB-5E69-D598-2B56-4C6940830D7C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28DC316-0265-679D-3B4B-58D83701D685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CAF974B-3CE9-12E3-246B-FBB2BAB908A6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31CBF4BC-0572-5AF6-8722-0B652E193F8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EEEF6336-FE0A-7945-236E-9A0D13666034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EE245A-CFA3-0C2B-14F1-CBB91096A95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C9673FC5-569B-9356-FAB5-0FB6913A07BB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/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447AE61-9CED-266B-18F6-039883DA44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69163" y="804671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28DB6BC-249F-2923-2277-BF599FD42E38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70F69D01-9062-1880-1DE9-2E20F19F3D89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205E219-8E01-2A47-82DE-A6FC8A292C38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2E383F1-7266-081D-F52E-7DC34488F2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CE65119-32E1-A589-9A80-51177FC29D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AAE07213-B354-0A52-D26D-482C5E6C2F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28FB9D34-BC3C-DA19-C673-7442C9E044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75914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EB4537-A34C-B6FB-0C62-079C5E25C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8E1FD270-EBDD-4972-2B1F-1B9E8D9B2C6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BDF74778-3A54-C1AA-93C2-C2AA63FE4C7E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0A062D9E-EA31-56E7-C48E-5DB9D43665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9C111A37-47CE-4B8A-1691-E4FF457152BA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3D5754-5FE0-BA27-7E2F-8B2B7A00C74A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B04CC72-122C-DAC9-34E6-180A515302E6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7D860FA7-70FA-C31D-0AAB-55FB4EDD0859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609FA68-F729-6E25-BEAE-AA340DA6D4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C050D4F-7287-DE06-6FC9-5E7AD8EC2B29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57B78BB4-5859-E0EC-923F-C246B6F2B9A3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C8F2767-9370-7A6F-86F4-21712287D8DE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C900D11-C0F0-EF41-5996-4C458435C9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/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615D827-B219-C217-C028-63FBB2B859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10" y="4204451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3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FACC6C82-F077-2AE0-3BAC-F92F704FCC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E4FE8133-31B0-6093-D877-A1C668C494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4B3000AB-B1E6-6EDF-D11F-FD9487F704B3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8A7EA36E-5E7F-A5B9-4E36-950CC0A4D8E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88DAC28D-BA29-64DB-EB3B-E1E837B2FB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165867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759F6-7D80-1755-8C0A-35FFAECB7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A845AB8-DAFE-BFDB-B16F-29259FA1AA04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680BB0B-663D-ABFC-02B4-DFF3A7C5BDA1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B5F1E1A5-C3B8-A8B0-1569-5024FEE304F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97E302E-F8ED-1BFE-77C0-045B9A580F83}"/>
              </a:ext>
            </a:extLst>
          </p:cNvPr>
          <p:cNvSpPr txBox="1"/>
          <p:nvPr/>
        </p:nvSpPr>
        <p:spPr>
          <a:xfrm rot="16200000">
            <a:off x="-76383" y="1362972"/>
            <a:ext cx="16398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Children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AFD37-2DD3-DF90-0407-503A50DF7C22}"/>
              </a:ext>
            </a:extLst>
          </p:cNvPr>
          <p:cNvSpPr txBox="1"/>
          <p:nvPr/>
        </p:nvSpPr>
        <p:spPr>
          <a:xfrm>
            <a:off x="9309741" y="5994526"/>
            <a:ext cx="10770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Food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CA150BF-D26D-151E-8F27-D82C0EEBA621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1297684" y="3429000"/>
            <a:ext cx="1635087" cy="2559700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Freeform 1">
            <a:extLst>
              <a:ext uri="{FF2B5EF4-FFF2-40B4-BE49-F238E27FC236}">
                <a16:creationId xmlns:a16="http://schemas.microsoft.com/office/drawing/2014/main" id="{27E32571-837C-4E99-511B-3DE267CBF33D}"/>
              </a:ext>
            </a:extLst>
          </p:cNvPr>
          <p:cNvSpPr/>
          <p:nvPr/>
        </p:nvSpPr>
        <p:spPr>
          <a:xfrm>
            <a:off x="1601322" y="1064854"/>
            <a:ext cx="4736238" cy="4783866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157118" h="4125075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618763" y="4066082"/>
                  <a:pt x="5157118" y="4125075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/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𝟏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9340A2D9-792F-DB1A-6A9C-2F416F51E5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7010" y="698230"/>
                <a:ext cx="609600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1BB1FF-0F4F-3D56-15E6-09DE4E9F0802}"/>
              </a:ext>
            </a:extLst>
          </p:cNvPr>
          <p:cNvCxnSpPr>
            <a:cxnSpLocks/>
          </p:cNvCxnSpPr>
          <p:nvPr/>
        </p:nvCxnSpPr>
        <p:spPr>
          <a:xfrm flipV="1">
            <a:off x="1869163" y="4439672"/>
            <a:ext cx="0" cy="144030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A80655D9-50FD-3F82-BE89-829CB0733C35}"/>
              </a:ext>
            </a:extLst>
          </p:cNvPr>
          <p:cNvSpPr/>
          <p:nvPr/>
        </p:nvSpPr>
        <p:spPr>
          <a:xfrm>
            <a:off x="1746088" y="4230540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6C19792-BAC5-5581-361B-5917129090DB}"/>
              </a:ext>
            </a:extLst>
          </p:cNvPr>
          <p:cNvCxnSpPr>
            <a:cxnSpLocks/>
            <a:endCxn id="10" idx="2"/>
          </p:cNvCxnSpPr>
          <p:nvPr/>
        </p:nvCxnSpPr>
        <p:spPr>
          <a:xfrm>
            <a:off x="1326263" y="4354396"/>
            <a:ext cx="419825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/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1C019195-A6E2-06F1-2F94-43DFC1A02A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6175" y="5987253"/>
                <a:ext cx="609600" cy="405752"/>
              </a:xfrm>
              <a:prstGeom prst="rect">
                <a:avLst/>
              </a:prstGeom>
              <a:blipFill>
                <a:blip r:embed="rId3"/>
                <a:stretch>
                  <a:fillRect b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/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3C0BF1F2-0CB6-5E71-3994-6C7777DD77F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5147" y="3985063"/>
                <a:ext cx="609600" cy="369332"/>
              </a:xfrm>
              <a:prstGeom prst="rect">
                <a:avLst/>
              </a:prstGeom>
              <a:blipFill>
                <a:blip r:embed="rId4"/>
                <a:stretch>
                  <a:fillRect b="-10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/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𝟔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F07E148-F1B7-EF7D-5903-CA67499719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7971" y="5988700"/>
                <a:ext cx="609600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/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𝟓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B2AC225E-0F27-6980-E9DE-0D29327222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9430" y="3238508"/>
                <a:ext cx="609600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EA0E8A0-FCBD-BFF4-2F79-C3FC648D8766}"/>
              </a:ext>
            </a:extLst>
          </p:cNvPr>
          <p:cNvCxnSpPr>
            <a:cxnSpLocks/>
          </p:cNvCxnSpPr>
          <p:nvPr/>
        </p:nvCxnSpPr>
        <p:spPr>
          <a:xfrm>
            <a:off x="1335789" y="1460810"/>
            <a:ext cx="2927269" cy="4495356"/>
          </a:xfrm>
          <a:prstGeom prst="line">
            <a:avLst/>
          </a:prstGeom>
          <a:ln w="571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Freeform 12">
            <a:extLst>
              <a:ext uri="{FF2B5EF4-FFF2-40B4-BE49-F238E27FC236}">
                <a16:creationId xmlns:a16="http://schemas.microsoft.com/office/drawing/2014/main" id="{08EC8BD2-1BD4-DC9A-1648-FE252DDDC44E}"/>
              </a:ext>
            </a:extLst>
          </p:cNvPr>
          <p:cNvSpPr/>
          <p:nvPr/>
        </p:nvSpPr>
        <p:spPr>
          <a:xfrm>
            <a:off x="3152209" y="1377369"/>
            <a:ext cx="4814296" cy="4493934"/>
          </a:xfrm>
          <a:custGeom>
            <a:avLst/>
            <a:gdLst>
              <a:gd name="connsiteX0" fmla="*/ 482345 w 4953984"/>
              <a:gd name="connsiteY0" fmla="*/ 0 h 4538546"/>
              <a:gd name="connsiteX1" fmla="*/ 415437 w 4953984"/>
              <a:gd name="connsiteY1" fmla="*/ 2854712 h 4538546"/>
              <a:gd name="connsiteX2" fmla="*/ 4953984 w 4953984"/>
              <a:gd name="connsiteY2" fmla="*/ 4538546 h 4538546"/>
              <a:gd name="connsiteX0" fmla="*/ 482345 w 6277479"/>
              <a:gd name="connsiteY0" fmla="*/ 0 h 4028920"/>
              <a:gd name="connsiteX1" fmla="*/ 415437 w 6277479"/>
              <a:gd name="connsiteY1" fmla="*/ 2854712 h 4028920"/>
              <a:gd name="connsiteX2" fmla="*/ 6277479 w 6277479"/>
              <a:gd name="connsiteY2" fmla="*/ 4028920 h 4028920"/>
              <a:gd name="connsiteX0" fmla="*/ 401809 w 6330506"/>
              <a:gd name="connsiteY0" fmla="*/ 0 h 4028920"/>
              <a:gd name="connsiteX1" fmla="*/ 468464 w 6330506"/>
              <a:gd name="connsiteY1" fmla="*/ 2854712 h 4028920"/>
              <a:gd name="connsiteX2" fmla="*/ 6330506 w 6330506"/>
              <a:gd name="connsiteY2" fmla="*/ 4028920 h 4028920"/>
              <a:gd name="connsiteX0" fmla="*/ 201950 w 6130647"/>
              <a:gd name="connsiteY0" fmla="*/ 0 h 4028920"/>
              <a:gd name="connsiteX1" fmla="*/ 268605 w 6130647"/>
              <a:gd name="connsiteY1" fmla="*/ 2854712 h 4028920"/>
              <a:gd name="connsiteX2" fmla="*/ 6130647 w 6130647"/>
              <a:gd name="connsiteY2" fmla="*/ 4028920 h 4028920"/>
              <a:gd name="connsiteX0" fmla="*/ 448901 w 6377598"/>
              <a:gd name="connsiteY0" fmla="*/ 0 h 4028920"/>
              <a:gd name="connsiteX1" fmla="*/ 515556 w 6377598"/>
              <a:gd name="connsiteY1" fmla="*/ 2854712 h 4028920"/>
              <a:gd name="connsiteX2" fmla="*/ 6377598 w 6377598"/>
              <a:gd name="connsiteY2" fmla="*/ 4028920 h 4028920"/>
              <a:gd name="connsiteX0" fmla="*/ 384520 w 6446781"/>
              <a:gd name="connsiteY0" fmla="*/ 0 h 4057767"/>
              <a:gd name="connsiteX1" fmla="*/ 584739 w 6446781"/>
              <a:gd name="connsiteY1" fmla="*/ 2883559 h 4057767"/>
              <a:gd name="connsiteX2" fmla="*/ 6446781 w 6446781"/>
              <a:gd name="connsiteY2" fmla="*/ 4057767 h 4057767"/>
              <a:gd name="connsiteX0" fmla="*/ 295341 w 6357602"/>
              <a:gd name="connsiteY0" fmla="*/ 0 h 4057767"/>
              <a:gd name="connsiteX1" fmla="*/ 495560 w 6357602"/>
              <a:gd name="connsiteY1" fmla="*/ 2883559 h 4057767"/>
              <a:gd name="connsiteX2" fmla="*/ 6357602 w 6357602"/>
              <a:gd name="connsiteY2" fmla="*/ 4057767 h 4057767"/>
              <a:gd name="connsiteX0" fmla="*/ 205033 w 6267294"/>
              <a:gd name="connsiteY0" fmla="*/ 0 h 4057767"/>
              <a:gd name="connsiteX1" fmla="*/ 611668 w 6267294"/>
              <a:gd name="connsiteY1" fmla="*/ 3200874 h 4057767"/>
              <a:gd name="connsiteX2" fmla="*/ 6267294 w 6267294"/>
              <a:gd name="connsiteY2" fmla="*/ 4057767 h 4057767"/>
              <a:gd name="connsiteX0" fmla="*/ 369782 w 6432043"/>
              <a:gd name="connsiteY0" fmla="*/ 0 h 4057767"/>
              <a:gd name="connsiteX1" fmla="*/ 436437 w 6432043"/>
              <a:gd name="connsiteY1" fmla="*/ 2922022 h 4057767"/>
              <a:gd name="connsiteX2" fmla="*/ 6432043 w 6432043"/>
              <a:gd name="connsiteY2" fmla="*/ 4057767 h 4057767"/>
              <a:gd name="connsiteX0" fmla="*/ 369782 w 4197886"/>
              <a:gd name="connsiteY0" fmla="*/ 0 h 4125076"/>
              <a:gd name="connsiteX1" fmla="*/ 436437 w 4197886"/>
              <a:gd name="connsiteY1" fmla="*/ 2922022 h 4125076"/>
              <a:gd name="connsiteX2" fmla="*/ 4197886 w 4197886"/>
              <a:gd name="connsiteY2" fmla="*/ 4125076 h 4125076"/>
              <a:gd name="connsiteX0" fmla="*/ 369782 w 5059980"/>
              <a:gd name="connsiteY0" fmla="*/ 0 h 4153922"/>
              <a:gd name="connsiteX1" fmla="*/ 436437 w 5059980"/>
              <a:gd name="connsiteY1" fmla="*/ 2922022 h 4153922"/>
              <a:gd name="connsiteX2" fmla="*/ 5059980 w 5059980"/>
              <a:gd name="connsiteY2" fmla="*/ 4153922 h 4153922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157118"/>
              <a:gd name="connsiteY0" fmla="*/ 0 h 4125075"/>
              <a:gd name="connsiteX1" fmla="*/ 436437 w 5157118"/>
              <a:gd name="connsiteY1" fmla="*/ 2922022 h 4125075"/>
              <a:gd name="connsiteX2" fmla="*/ 5157118 w 5157118"/>
              <a:gd name="connsiteY2" fmla="*/ 4125075 h 4125075"/>
              <a:gd name="connsiteX0" fmla="*/ 369782 w 5217829"/>
              <a:gd name="connsiteY0" fmla="*/ 0 h 4009688"/>
              <a:gd name="connsiteX1" fmla="*/ 436437 w 5217829"/>
              <a:gd name="connsiteY1" fmla="*/ 2922022 h 4009688"/>
              <a:gd name="connsiteX2" fmla="*/ 5217829 w 5217829"/>
              <a:gd name="connsiteY2" fmla="*/ 4009688 h 4009688"/>
              <a:gd name="connsiteX0" fmla="*/ 369782 w 5242113"/>
              <a:gd name="connsiteY0" fmla="*/ 0 h 3875070"/>
              <a:gd name="connsiteX1" fmla="*/ 436437 w 5242113"/>
              <a:gd name="connsiteY1" fmla="*/ 2922022 h 3875070"/>
              <a:gd name="connsiteX2" fmla="*/ 5242113 w 5242113"/>
              <a:gd name="connsiteY2" fmla="*/ 3875070 h 3875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42113" h="3875070">
                <a:moveTo>
                  <a:pt x="369782" y="0"/>
                </a:moveTo>
                <a:cubicBezTo>
                  <a:pt x="60826" y="1404921"/>
                  <a:pt x="-308836" y="2165598"/>
                  <a:pt x="436437" y="2922022"/>
                </a:cubicBezTo>
                <a:cubicBezTo>
                  <a:pt x="1181710" y="3678446"/>
                  <a:pt x="4703758" y="3816077"/>
                  <a:pt x="5242113" y="3875070"/>
                </a:cubicBezTo>
              </a:path>
            </a:pathLst>
          </a:cu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3F294B8-4468-9BE6-E08B-27FDA732C31E}"/>
              </a:ext>
            </a:extLst>
          </p:cNvPr>
          <p:cNvCxnSpPr>
            <a:cxnSpLocks/>
          </p:cNvCxnSpPr>
          <p:nvPr/>
        </p:nvCxnSpPr>
        <p:spPr>
          <a:xfrm flipV="1">
            <a:off x="3381025" y="4701367"/>
            <a:ext cx="0" cy="129315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>
            <a:extLst>
              <a:ext uri="{FF2B5EF4-FFF2-40B4-BE49-F238E27FC236}">
                <a16:creationId xmlns:a16="http://schemas.microsoft.com/office/drawing/2014/main" id="{DFC2899D-D031-C4CB-DB79-371EDC94FEB8}"/>
              </a:ext>
            </a:extLst>
          </p:cNvPr>
          <p:cNvSpPr/>
          <p:nvPr/>
        </p:nvSpPr>
        <p:spPr>
          <a:xfrm>
            <a:off x="3257950" y="4492235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EC10BFB-F27A-8A0A-C82C-76084DEBD7D4}"/>
              </a:ext>
            </a:extLst>
          </p:cNvPr>
          <p:cNvCxnSpPr>
            <a:cxnSpLocks/>
            <a:endCxn id="16" idx="2"/>
          </p:cNvCxnSpPr>
          <p:nvPr/>
        </p:nvCxnSpPr>
        <p:spPr>
          <a:xfrm>
            <a:off x="1307210" y="4616091"/>
            <a:ext cx="1950740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/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4AAB62C5-913C-AA9A-48C7-7A8C4279A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477" y="4349856"/>
                <a:ext cx="609600" cy="523220"/>
              </a:xfrm>
              <a:prstGeom prst="rect">
                <a:avLst/>
              </a:prstGeom>
              <a:blipFill>
                <a:blip r:embed="rId7"/>
                <a:stretch>
                  <a:fillRect l="-10204" r="-53061" b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/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𝑸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𝒇</m:t>
                          </m:r>
                        </m:sub>
                        <m:sup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𝒏𝒆𝒘</m:t>
                          </m:r>
                        </m:sup>
                      </m:sSubSup>
                    </m:oMath>
                  </m:oMathPara>
                </a14:m>
                <a:endParaRPr lang="en-US" sz="2800" b="1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7DD43927-5A7B-B0C3-EBA7-7538BB1945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76225" y="6087804"/>
                <a:ext cx="609600" cy="580865"/>
              </a:xfrm>
              <a:prstGeom prst="rect">
                <a:avLst/>
              </a:prstGeom>
              <a:blipFill>
                <a:blip r:embed="rId8"/>
                <a:stretch>
                  <a:fillRect l="-10204" r="-51020" b="-106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/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𝟏𝟎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BFEFF2E9-21F4-B46E-D739-63CB2F301E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907" y="1276144"/>
                <a:ext cx="609600" cy="369332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/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1" i="1" smtClean="0">
                          <a:latin typeface="Cambria Math" panose="02040503050406030204" pitchFamily="18" charset="0"/>
                        </a:rPr>
                        <m:t>𝟏𝟐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DB679DFA-2985-8922-E08F-083E0B0313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8258" y="5999152"/>
                <a:ext cx="609600" cy="369332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/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𝑰</m:t>
                          </m:r>
                        </m:e>
                        <m:sub>
                          <m:r>
                            <a:rPr lang="en-US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b>
                      </m:sSub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CF69894B-E4DA-1E46-22F4-06443E6FCA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34950" y="1192703"/>
                <a:ext cx="609600" cy="369332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53775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F27EA5-C5F7-4F20-F4E4-E1F856D2FD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36A43A9-7C33-5BB0-19FA-9A21EBF14B8A}"/>
              </a:ext>
            </a:extLst>
          </p:cNvPr>
          <p:cNvCxnSpPr/>
          <p:nvPr/>
        </p:nvCxnSpPr>
        <p:spPr>
          <a:xfrm>
            <a:off x="1316736" y="1873405"/>
            <a:ext cx="7559635" cy="4093605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52A7D70B-945A-307E-E1C7-7283F5D14C41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49790503-29F5-A581-2037-5903ECB4BA34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DD0CE5D0-2526-0DFD-4061-114A848AC10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747D8F-73C3-E068-8683-5DA37714550D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4747D8F-73C3-E068-8683-5DA3771455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34948-B006-022B-2BAE-9B647766191F}"/>
                  </a:ext>
                </a:extLst>
              </p:cNvPr>
              <p:cNvSpPr txBox="1"/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Workers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59D34948-B006-022B-2BAE-9B64776619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blipFill>
                <a:blip r:embed="rId3"/>
                <a:stretch>
                  <a:fillRect l="-3650" t="-9302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85111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81754959-6E05-3BFD-BF54-4E748EEDBE00}"/>
              </a:ext>
            </a:extLst>
          </p:cNvPr>
          <p:cNvCxnSpPr/>
          <p:nvPr/>
        </p:nvCxnSpPr>
        <p:spPr>
          <a:xfrm>
            <a:off x="1316736" y="1873405"/>
            <a:ext cx="7559635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" name="Group 3">
            <a:extLst>
              <a:ext uri="{FF2B5EF4-FFF2-40B4-BE49-F238E27FC236}">
                <a16:creationId xmlns:a16="http://schemas.microsoft.com/office/drawing/2014/main" id="{4B8CE734-5C81-2E0E-E82B-9BA3F610BA7F}"/>
              </a:ext>
            </a:extLst>
          </p:cNvPr>
          <p:cNvGrpSpPr/>
          <p:nvPr/>
        </p:nvGrpSpPr>
        <p:grpSpPr>
          <a:xfrm>
            <a:off x="1297684" y="804672"/>
            <a:ext cx="9089136" cy="5189854"/>
            <a:chOff x="1297684" y="804672"/>
            <a:chExt cx="9089136" cy="5102352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D64DE1C1-90E9-EDAC-7650-91D8D31E8BCC}"/>
                </a:ext>
              </a:extLst>
            </p:cNvPr>
            <p:cNvCxnSpPr/>
            <p:nvPr/>
          </p:nvCxnSpPr>
          <p:spPr>
            <a:xfrm>
              <a:off x="1316736" y="804672"/>
              <a:ext cx="0" cy="5102352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CFF1FFE6-3E25-4C97-F1A6-02C6E6F0763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879972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C8ECAE-A9B5-03FB-159D-652F596ABBBD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7FC8ECAE-A9B5-03FB-159D-652F596ABB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B96639-2CD5-E7D6-ECFC-81458FD31908}"/>
                  </a:ext>
                </a:extLst>
              </p:cNvPr>
              <p:cNvSpPr txBox="1"/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Workers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b>
                        <m:r>
                          <a:rPr lang="en-US" sz="2800" b="1" i="1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800" b="1" dirty="0"/>
                  <a:t>  </a:t>
                </a: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8B96639-2CD5-E7D6-ECFC-81458FD319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757" y="5994526"/>
                <a:ext cx="3473064" cy="523220"/>
              </a:xfrm>
              <a:prstGeom prst="rect">
                <a:avLst/>
              </a:prstGeom>
              <a:blipFill>
                <a:blip r:embed="rId3"/>
                <a:stretch>
                  <a:fillRect l="-3650" t="-9302" r="-730" b="-3255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028553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B151C-6E06-7941-88E4-638434F97A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58882AE-8772-DB7C-B246-11AAFB33F689}"/>
              </a:ext>
            </a:extLst>
          </p:cNvPr>
          <p:cNvCxnSpPr>
            <a:cxnSpLocks/>
          </p:cNvCxnSpPr>
          <p:nvPr/>
        </p:nvCxnSpPr>
        <p:spPr>
          <a:xfrm flipH="1">
            <a:off x="1316736" y="1137424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E7235DF-CC31-521A-FBF2-A8F48DB28D54}"/>
              </a:ext>
            </a:extLst>
          </p:cNvPr>
          <p:cNvCxnSpPr>
            <a:cxnSpLocks/>
          </p:cNvCxnSpPr>
          <p:nvPr/>
        </p:nvCxnSpPr>
        <p:spPr>
          <a:xfrm>
            <a:off x="1316736" y="1873405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A2C8D4-747F-679B-F212-44621B4ED24A}"/>
                  </a:ext>
                </a:extLst>
              </p:cNvPr>
              <p:cNvSpPr txBox="1"/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Rural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𝑹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AA2C8D4-747F-679B-F212-44621B4ED2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-560274" y="2058739"/>
                <a:ext cx="3031353" cy="523220"/>
              </a:xfrm>
              <a:prstGeom prst="rect">
                <a:avLst/>
              </a:prstGeom>
              <a:blipFill>
                <a:blip r:embed="rId2"/>
                <a:stretch>
                  <a:fillRect l="-11905" r="-33333" b="-41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E83CF59-C142-1E93-6168-69ECF08A5C0D}"/>
              </a:ext>
            </a:extLst>
          </p:cNvPr>
          <p:cNvSpPr txBox="1"/>
          <p:nvPr/>
        </p:nvSpPr>
        <p:spPr>
          <a:xfrm>
            <a:off x="5600753" y="6334780"/>
            <a:ext cx="4578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N</a:t>
            </a: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1EA9859-90B6-20F4-E955-5F64DEE8C5BD}"/>
              </a:ext>
            </a:extLst>
          </p:cNvPr>
          <p:cNvGrpSpPr/>
          <p:nvPr/>
        </p:nvGrpSpPr>
        <p:grpSpPr>
          <a:xfrm>
            <a:off x="1297684" y="800960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CF1C629-75AB-C446-883E-F6593A33FFC4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9B6B1982-76F9-CA82-4A11-7CFA7F3C3B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2932EF73-2F42-D461-0C42-D7DFD1D977C9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5A8DD933-F5DB-C9C7-D77B-87835A95267C}"/>
              </a:ext>
            </a:extLst>
          </p:cNvPr>
          <p:cNvSpPr/>
          <p:nvPr/>
        </p:nvSpPr>
        <p:spPr>
          <a:xfrm rot="5400000">
            <a:off x="5651264" y="1666295"/>
            <a:ext cx="356839" cy="9063999"/>
          </a:xfrm>
          <a:prstGeom prst="rightBrace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B1DF0F-D7A8-A00E-18F4-B64439FAD56B}"/>
                  </a:ext>
                </a:extLst>
              </p:cNvPr>
              <p:cNvSpPr txBox="1"/>
              <p:nvPr/>
            </p:nvSpPr>
            <p:spPr>
              <a:xfrm rot="5400000">
                <a:off x="9207349" y="2391491"/>
                <a:ext cx="3031353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800" b="1" dirty="0"/>
                  <a:t>City Wage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sz="2800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sub>
                    </m:sSub>
                    <m:r>
                      <a:rPr lang="en-US" sz="2800" b="1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4B1DF0F-D7A8-A00E-18F4-B64439FAD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5400000">
                <a:off x="9207349" y="2391491"/>
                <a:ext cx="3031353" cy="523220"/>
              </a:xfrm>
              <a:prstGeom prst="rect">
                <a:avLst/>
              </a:prstGeom>
              <a:blipFill>
                <a:blip r:embed="rId3"/>
                <a:stretch>
                  <a:fillRect l="-30952" t="-4167" r="-14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877787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51A083-92B9-E955-4E24-B552393354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80323E96-1EA4-8D5E-CCA4-E4F0C1C1E5E7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CC4604A-7F21-44FF-1C70-83D872D87FB3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ACB442-45A5-C5F6-8277-8995D8B02740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2CACB442-45A5-C5F6-8277-8995D8B027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4C977EC-026B-40D4-241C-0CDA8CF5DFC6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BBEA90C-63BC-F639-F10A-2099A994843D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B3555B2-0408-156B-0084-B7EDEBE96B7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7E7B57F-496B-D1C2-F3B6-D68998A3DAE0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A6F3D4-4B6A-C419-61AA-F219F5AC16C5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40A6F3D4-4B6A-C419-61AA-F219F5AC16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4E7C406-3897-1759-7B43-3616806B5298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9E8F1852-298E-559B-E4E0-851D2D373160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D0AB3D7-3812-8975-D4A1-5FB4037D8E92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B03564-13CB-68A9-D10C-E1DD8B6CE3B0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2B03564-13CB-68A9-D10C-E1DD8B6CE3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4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Right Brace 16">
            <a:extLst>
              <a:ext uri="{FF2B5EF4-FFF2-40B4-BE49-F238E27FC236}">
                <a16:creationId xmlns:a16="http://schemas.microsoft.com/office/drawing/2014/main" id="{A9605EEB-8962-9EB3-2CCE-DEBF8AC612B4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3F9FB13-BCDD-6E80-2F94-52A6D664B25C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13F9FB13-BCDD-6E80-2F94-52A6D664B2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TextBox 19">
            <a:extLst>
              <a:ext uri="{FF2B5EF4-FFF2-40B4-BE49-F238E27FC236}">
                <a16:creationId xmlns:a16="http://schemas.microsoft.com/office/drawing/2014/main" id="{BB125463-65E7-3E58-0954-59F1BD526FE6}"/>
              </a:ext>
            </a:extLst>
          </p:cNvPr>
          <p:cNvSpPr txBox="1"/>
          <p:nvPr/>
        </p:nvSpPr>
        <p:spPr>
          <a:xfrm>
            <a:off x="10656762" y="1317453"/>
            <a:ext cx="13417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(Fixed City Wage)</a:t>
            </a:r>
          </a:p>
        </p:txBody>
      </p:sp>
    </p:spTree>
    <p:extLst>
      <p:ext uri="{BB962C8B-B14F-4D97-AF65-F5344CB8AC3E}">
        <p14:creationId xmlns:p14="http://schemas.microsoft.com/office/powerpoint/2010/main" val="250714706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7DF1E-B84E-A511-DA9A-579086A03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994DE21-DCA5-473A-C37F-BDDB3A2F200B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42BB45B-FF30-CCB7-7EB7-D72B273EDE94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5F6D5CF-BF37-AD9F-DCE2-19CA20EED561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5F6D5CF-BF37-AD9F-DCE2-19CA20EED5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EFD1AD-D787-94B6-24C9-7B854F89D57A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DEFD1AD-D787-94B6-24C9-7B854F89D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3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569C460E-6528-E917-A975-36E5EFA8B862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0E807566-9EAE-BD65-BE29-311A3DC71112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6F8FE692-B270-42B5-B22D-DD679689D10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E7BB6494-9AF6-EA53-9377-E920DBB87299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9C57B996-AC63-D4E2-A29E-3B8D8D3DD8DA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1D31E2-130E-E360-6076-04AE62D7E962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81D31E2-130E-E360-6076-04AE62D7E9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A633E2-D099-5C0D-D2F2-A469888C4A41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BAA633E2-D099-5C0D-D2F2-A469888C4A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7FBCC604-7F42-B58C-29EF-4531C42A6E4A}"/>
              </a:ext>
            </a:extLst>
          </p:cNvPr>
          <p:cNvSpPr txBox="1"/>
          <p:nvPr/>
        </p:nvSpPr>
        <p:spPr>
          <a:xfrm>
            <a:off x="10656762" y="1317453"/>
            <a:ext cx="1341704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rgbClr val="C00000"/>
                </a:solidFill>
              </a:rPr>
              <a:t>(Fixed City Wage)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7BDBA22-0D55-641A-A257-DA847F1BF220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6E40A27B-977F-3535-7826-9BC29A84DFF1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FC4670D-B4B8-6034-DCF3-4E8635F32C35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C4E4E811-79C5-04C6-E7CE-03F53AB2FB2A}"/>
              </a:ext>
            </a:extLst>
          </p:cNvPr>
          <p:cNvSpPr/>
          <p:nvPr/>
        </p:nvSpPr>
        <p:spPr>
          <a:xfrm rot="5400000">
            <a:off x="4343639" y="2466464"/>
            <a:ext cx="356839" cy="721353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37013F-4A72-CAF1-3F5B-725FAC223886}"/>
                  </a:ext>
                </a:extLst>
              </p:cNvPr>
              <p:cNvSpPr txBox="1"/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B237013F-4A72-CAF1-3F5B-725FAC2238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blipFill>
                <a:blip r:embed="rId6"/>
                <a:stretch>
                  <a:fillRect l="-5405" r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B71E19-BD00-9E0F-653B-6FA6AF14F996}"/>
                  </a:ext>
                </a:extLst>
              </p:cNvPr>
              <p:cNvSpPr txBox="1"/>
              <p:nvPr/>
            </p:nvSpPr>
            <p:spPr>
              <a:xfrm>
                <a:off x="1984325" y="978424"/>
                <a:ext cx="5109151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n-US" sz="2800" b="1" dirty="0">
                    <a:solidFill>
                      <a:schemeClr val="tx1"/>
                    </a:solidFill>
                  </a:rPr>
                  <a:t>Where:</a:t>
                </a:r>
                <a14:m>
                  <m:oMath xmlns:m="http://schemas.openxmlformats.org/officeDocument/2006/math">
                    <m:r>
                      <a:rPr lang="en-US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28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𝑪</m:t>
                        </m:r>
                      </m:sup>
                    </m:sSup>
                    <m:r>
                      <a:rPr lang="en-US" sz="2800" b="1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𝑳</m:t>
                        </m:r>
                      </m:e>
                      <m:sup>
                        <m:r>
                          <a:rPr lang="en-US" sz="2800" b="1" i="1" smtClean="0">
                            <a:solidFill>
                              <a:schemeClr val="tx2">
                                <a:lumMod val="50000"/>
                                <a:lumOff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sup>
                    </m:sSup>
                  </m:oMath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FB71E19-BD00-9E0F-653B-6FA6AF14F9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84325" y="978424"/>
                <a:ext cx="5109151" cy="532966"/>
              </a:xfrm>
              <a:prstGeom prst="rect">
                <a:avLst/>
              </a:prstGeom>
              <a:blipFill>
                <a:blip r:embed="rId7"/>
                <a:stretch>
                  <a:fillRect l="-2481" t="-11628" b="-3023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85819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A35CD-A0EE-1842-90AF-D3F4C0976C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7C09813F-48A4-D05D-0B3B-83DBEA7DAB21}"/>
              </a:ext>
            </a:extLst>
          </p:cNvPr>
          <p:cNvSpPr/>
          <p:nvPr/>
        </p:nvSpPr>
        <p:spPr>
          <a:xfrm>
            <a:off x="934345" y="1897574"/>
            <a:ext cx="7285820" cy="1838085"/>
          </a:xfrm>
          <a:custGeom>
            <a:avLst/>
            <a:gdLst>
              <a:gd name="connsiteX0" fmla="*/ 7058722 w 7058722"/>
              <a:gd name="connsiteY0" fmla="*/ 0 h 2011793"/>
              <a:gd name="connsiteX1" fmla="*/ 2854712 w 7058722"/>
              <a:gd name="connsiteY1" fmla="*/ 1817649 h 2011793"/>
              <a:gd name="connsiteX2" fmla="*/ 0 w 7058722"/>
              <a:gd name="connsiteY2" fmla="*/ 1873405 h 201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58722" h="2011793">
                <a:moveTo>
                  <a:pt x="7058722" y="0"/>
                </a:moveTo>
                <a:cubicBezTo>
                  <a:pt x="5544944" y="752707"/>
                  <a:pt x="4031166" y="1505415"/>
                  <a:pt x="2854712" y="1817649"/>
                </a:cubicBezTo>
                <a:cubicBezTo>
                  <a:pt x="1678258" y="2129883"/>
                  <a:pt x="839129" y="2001644"/>
                  <a:pt x="0" y="1873405"/>
                </a:cubicBezTo>
              </a:path>
            </a:pathLst>
          </a:cu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7F2DACD-FB68-9C50-213C-13963ADDE41B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11E2F544-56F8-7526-30C9-B17B104732FB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087EA4-AFA1-3BE5-92CD-BEE15B3A5C8D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19087EA4-AFA1-3BE5-92CD-BEE15B3A5C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2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70E012-2231-1162-3463-EAE88E870217}"/>
                  </a:ext>
                </a:extLst>
              </p:cNvPr>
              <p:cNvSpPr txBox="1"/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BE70E012-2231-1162-3463-EAE88E8702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325034"/>
                <a:ext cx="457859" cy="532966"/>
              </a:xfrm>
              <a:prstGeom prst="rect">
                <a:avLst/>
              </a:prstGeom>
              <a:blipFill>
                <a:blip r:embed="rId3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7840BAD4-E1E8-4277-1B87-8D9D6C9F5D7D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7079D019-56A3-39A2-AB01-8FBD484EE792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07177EB-4645-2767-9A98-703D668CBE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D287522-6143-90D6-B44C-8E9373F8479A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AC00F0F8-9FBE-B2EB-CA35-8943F9230BD7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E7878D-FADE-2D7F-34B4-A81EAF19A322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6BE7878D-FADE-2D7F-34B4-A81EAF19A3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4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D64D83-AF8F-5453-5C32-D384375B585E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7AD64D83-AF8F-5453-5C32-D384375B58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677D8B-76DA-DFB1-1EF8-C60038D9511F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8A463B6E-F0DE-C9E0-6EDA-A3F15AEA2ECF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30C93815-A51F-F51B-DAD1-002266702112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0923AB6B-7F12-972E-8EB5-AEBA32BC3F00}"/>
              </a:ext>
            </a:extLst>
          </p:cNvPr>
          <p:cNvSpPr/>
          <p:nvPr/>
        </p:nvSpPr>
        <p:spPr>
          <a:xfrm rot="5400000">
            <a:off x="4343639" y="2466464"/>
            <a:ext cx="356839" cy="721353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10F2DC-CE59-5041-ADB3-9AE9EE133CA1}"/>
                  </a:ext>
                </a:extLst>
              </p:cNvPr>
              <p:cNvSpPr txBox="1"/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310F2DC-CE59-5041-ADB3-9AE9EE133C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93128" y="6251651"/>
                <a:ext cx="457859" cy="530915"/>
              </a:xfrm>
              <a:prstGeom prst="rect">
                <a:avLst/>
              </a:prstGeom>
              <a:blipFill>
                <a:blip r:embed="rId6"/>
                <a:stretch>
                  <a:fillRect l="-5405" r="-24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CEDC3-5E4A-7ABB-8650-08A13CBFF570}"/>
                  </a:ext>
                </a:extLst>
              </p:cNvPr>
              <p:cNvSpPr txBox="1"/>
              <p:nvPr/>
            </p:nvSpPr>
            <p:spPr>
              <a:xfrm>
                <a:off x="6468031" y="1364607"/>
                <a:ext cx="1126864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E87CEDC3-5E4A-7ABB-8650-08A13CBFF5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8031" y="1364607"/>
                <a:ext cx="1126864" cy="532966"/>
              </a:xfrm>
              <a:prstGeom prst="rect">
                <a:avLst/>
              </a:prstGeom>
              <a:blipFill>
                <a:blip r:embed="rId7"/>
                <a:stretch>
                  <a:fillRect l="-3333" r="-10000" b="-18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Freeform 19">
            <a:extLst>
              <a:ext uri="{FF2B5EF4-FFF2-40B4-BE49-F238E27FC236}">
                <a16:creationId xmlns:a16="http://schemas.microsoft.com/office/drawing/2014/main" id="{D755132E-E6D6-966D-0132-8A744FE1870A}"/>
              </a:ext>
            </a:extLst>
          </p:cNvPr>
          <p:cNvSpPr/>
          <p:nvPr/>
        </p:nvSpPr>
        <p:spPr>
          <a:xfrm rot="1031462" flipH="1">
            <a:off x="6017016" y="1671820"/>
            <a:ext cx="407094" cy="869795"/>
          </a:xfrm>
          <a:custGeom>
            <a:avLst/>
            <a:gdLst>
              <a:gd name="connsiteX0" fmla="*/ 0 w 267817"/>
              <a:gd name="connsiteY0" fmla="*/ 869795 h 869795"/>
              <a:gd name="connsiteX1" fmla="*/ 267630 w 267817"/>
              <a:gd name="connsiteY1" fmla="*/ 423746 h 869795"/>
              <a:gd name="connsiteX2" fmla="*/ 33454 w 267817"/>
              <a:gd name="connsiteY2" fmla="*/ 0 h 8697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67817" h="869795">
                <a:moveTo>
                  <a:pt x="0" y="869795"/>
                </a:moveTo>
                <a:cubicBezTo>
                  <a:pt x="131027" y="719253"/>
                  <a:pt x="262054" y="568712"/>
                  <a:pt x="267630" y="423746"/>
                </a:cubicBezTo>
                <a:cubicBezTo>
                  <a:pt x="273206" y="278780"/>
                  <a:pt x="153330" y="139390"/>
                  <a:pt x="33454" y="0"/>
                </a:cubicBezTo>
              </a:path>
            </a:pathLst>
          </a:custGeom>
          <a:noFill/>
          <a:ln w="38100">
            <a:solidFill>
              <a:schemeClr val="accent5">
                <a:lumMod val="60000"/>
                <a:lumOff val="40000"/>
              </a:schemeClr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682A727-0CDF-C47F-84A6-B1EAD75E0B61}"/>
                  </a:ext>
                </a:extLst>
              </p:cNvPr>
              <p:cNvSpPr txBox="1"/>
              <p:nvPr/>
            </p:nvSpPr>
            <p:spPr>
              <a:xfrm>
                <a:off x="1187550" y="264839"/>
                <a:ext cx="5133923" cy="135357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4000" b="1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4000" b="1" i="1" smtClean="0">
                                      <a:solidFill>
                                        <a:schemeClr val="accent5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4000" b="1" i="0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𝐋</m:t>
                              </m:r>
                            </m:e>
                            <m:sup>
                              <m:r>
                                <a:rPr lang="en-US" sz="4000" b="1" i="0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𝐂</m:t>
                              </m:r>
                            </m:sup>
                          </m:sSup>
                        </m:num>
                        <m:den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𝑼</m:t>
                              </m:r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  <m: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sSup>
                            <m:sSupPr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𝑳</m:t>
                              </m:r>
                            </m:e>
                            <m:sup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den>
                      </m:f>
                      <m:r>
                        <a:rPr lang="en-US" sz="40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⋅</m:t>
                      </m:r>
                      <m:sSup>
                        <m:sSupPr>
                          <m:ctrlP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40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40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40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682A727-0CDF-C47F-84A6-B1EAD75E0B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50" y="264839"/>
                <a:ext cx="5133923" cy="1353576"/>
              </a:xfrm>
              <a:prstGeom prst="rect">
                <a:avLst/>
              </a:prstGeom>
              <a:blipFill>
                <a:blip r:embed="rId8"/>
                <a:stretch>
                  <a:fillRect l="-1235" b="-740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6789557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4FB14-E812-220E-D17A-CDA62861D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71E9CBF7-449A-BD26-910D-2BD88477FEC7}"/>
              </a:ext>
            </a:extLst>
          </p:cNvPr>
          <p:cNvCxnSpPr>
            <a:cxnSpLocks/>
          </p:cNvCxnSpPr>
          <p:nvPr/>
        </p:nvCxnSpPr>
        <p:spPr>
          <a:xfrm>
            <a:off x="934345" y="3384501"/>
            <a:ext cx="3612797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257BE4D4-E496-8D70-1B5C-BE59784E3F73}"/>
              </a:ext>
            </a:extLst>
          </p:cNvPr>
          <p:cNvCxnSpPr>
            <a:cxnSpLocks/>
          </p:cNvCxnSpPr>
          <p:nvPr/>
        </p:nvCxnSpPr>
        <p:spPr>
          <a:xfrm flipV="1">
            <a:off x="4482824" y="3469778"/>
            <a:ext cx="0" cy="2372169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Freeform 18">
            <a:extLst>
              <a:ext uri="{FF2B5EF4-FFF2-40B4-BE49-F238E27FC236}">
                <a16:creationId xmlns:a16="http://schemas.microsoft.com/office/drawing/2014/main" id="{701A4781-73D7-6932-A80B-6DB17A506BD8}"/>
              </a:ext>
            </a:extLst>
          </p:cNvPr>
          <p:cNvSpPr/>
          <p:nvPr/>
        </p:nvSpPr>
        <p:spPr>
          <a:xfrm>
            <a:off x="934345" y="1897574"/>
            <a:ext cx="7285820" cy="1838085"/>
          </a:xfrm>
          <a:custGeom>
            <a:avLst/>
            <a:gdLst>
              <a:gd name="connsiteX0" fmla="*/ 7058722 w 7058722"/>
              <a:gd name="connsiteY0" fmla="*/ 0 h 2011793"/>
              <a:gd name="connsiteX1" fmla="*/ 2854712 w 7058722"/>
              <a:gd name="connsiteY1" fmla="*/ 1817649 h 2011793"/>
              <a:gd name="connsiteX2" fmla="*/ 0 w 7058722"/>
              <a:gd name="connsiteY2" fmla="*/ 1873405 h 20117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058722" h="2011793">
                <a:moveTo>
                  <a:pt x="7058722" y="0"/>
                </a:moveTo>
                <a:cubicBezTo>
                  <a:pt x="5544944" y="752707"/>
                  <a:pt x="4031166" y="1505415"/>
                  <a:pt x="2854712" y="1817649"/>
                </a:cubicBezTo>
                <a:cubicBezTo>
                  <a:pt x="1678258" y="2129883"/>
                  <a:pt x="839129" y="2001644"/>
                  <a:pt x="0" y="1873405"/>
                </a:cubicBezTo>
              </a:path>
            </a:pathLst>
          </a:cu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D02F174B-FD88-D52F-1111-226EF7ACC260}"/>
              </a:ext>
            </a:extLst>
          </p:cNvPr>
          <p:cNvCxnSpPr>
            <a:cxnSpLocks/>
          </p:cNvCxnSpPr>
          <p:nvPr/>
        </p:nvCxnSpPr>
        <p:spPr>
          <a:xfrm flipH="1">
            <a:off x="915292" y="1012361"/>
            <a:ext cx="9044957" cy="4829586"/>
          </a:xfrm>
          <a:prstGeom prst="line">
            <a:avLst/>
          </a:prstGeom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1A4F683-11DA-FF21-C811-7EEC931AA920}"/>
              </a:ext>
            </a:extLst>
          </p:cNvPr>
          <p:cNvCxnSpPr>
            <a:cxnSpLocks/>
          </p:cNvCxnSpPr>
          <p:nvPr/>
        </p:nvCxnSpPr>
        <p:spPr>
          <a:xfrm>
            <a:off x="915292" y="1748342"/>
            <a:ext cx="9044957" cy="4093605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C57A96-7192-F800-3660-BCEDC4E9C6B3}"/>
                  </a:ext>
                </a:extLst>
              </p:cNvPr>
              <p:cNvSpPr txBox="1"/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4C57A96-7192-F800-3660-BCEDC4E9C6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9531" y="213001"/>
                <a:ext cx="660635" cy="523220"/>
              </a:xfrm>
              <a:prstGeom prst="rect">
                <a:avLst/>
              </a:prstGeom>
              <a:blipFill>
                <a:blip r:embed="rId3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8F9237-4982-604F-2D3B-E77051BAB5C8}"/>
                  </a:ext>
                </a:extLst>
              </p:cNvPr>
              <p:cNvSpPr txBox="1"/>
              <p:nvPr/>
            </p:nvSpPr>
            <p:spPr>
              <a:xfrm>
                <a:off x="8877139" y="6259098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1B8F9237-4982-604F-2D3B-E77051BAB5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77139" y="6259098"/>
                <a:ext cx="457859" cy="532966"/>
              </a:xfrm>
              <a:prstGeom prst="rect">
                <a:avLst/>
              </a:prstGeom>
              <a:blipFill>
                <a:blip r:embed="rId4"/>
                <a:stretch>
                  <a:fillRect l="-5405" r="-216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15">
            <a:extLst>
              <a:ext uri="{FF2B5EF4-FFF2-40B4-BE49-F238E27FC236}">
                <a16:creationId xmlns:a16="http://schemas.microsoft.com/office/drawing/2014/main" id="{D3420A84-7421-12C8-D14E-DB430B079B71}"/>
              </a:ext>
            </a:extLst>
          </p:cNvPr>
          <p:cNvGrpSpPr/>
          <p:nvPr/>
        </p:nvGrpSpPr>
        <p:grpSpPr>
          <a:xfrm>
            <a:off x="896240" y="675897"/>
            <a:ext cx="9089136" cy="5193566"/>
            <a:chOff x="1297684" y="800960"/>
            <a:chExt cx="9089136" cy="5193566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82B1D959-04C9-C1AD-3A47-9CD051D34FB5}"/>
                </a:ext>
              </a:extLst>
            </p:cNvPr>
            <p:cNvCxnSpPr/>
            <p:nvPr/>
          </p:nvCxnSpPr>
          <p:spPr>
            <a:xfrm>
              <a:off x="1316736" y="804672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A995523E-21DB-98B1-F5E9-09F8340B8E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297684" y="5967010"/>
              <a:ext cx="9089136" cy="0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8B2B2C38-0A9E-B084-5882-8B8A8C772F52}"/>
                </a:ext>
              </a:extLst>
            </p:cNvPr>
            <p:cNvCxnSpPr/>
            <p:nvPr/>
          </p:nvCxnSpPr>
          <p:spPr>
            <a:xfrm>
              <a:off x="10361693" y="800960"/>
              <a:ext cx="0" cy="5189854"/>
            </a:xfrm>
            <a:prstGeom prst="line">
              <a:avLst/>
            </a:prstGeom>
            <a:ln w="571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Right Brace 20">
            <a:extLst>
              <a:ext uri="{FF2B5EF4-FFF2-40B4-BE49-F238E27FC236}">
                <a16:creationId xmlns:a16="http://schemas.microsoft.com/office/drawing/2014/main" id="{8C70CBE7-BCF9-6364-D533-08784A94FC99}"/>
              </a:ext>
            </a:extLst>
          </p:cNvPr>
          <p:cNvSpPr/>
          <p:nvPr/>
        </p:nvSpPr>
        <p:spPr>
          <a:xfrm rot="5400000">
            <a:off x="8927650" y="5219063"/>
            <a:ext cx="356839" cy="1708337"/>
          </a:xfrm>
          <a:prstGeom prst="rightBrace">
            <a:avLst/>
          </a:prstGeom>
          <a:ln w="38100"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8985DD-213C-4E0F-9851-81059FFC248A}"/>
                  </a:ext>
                </a:extLst>
              </p:cNvPr>
              <p:cNvSpPr txBox="1"/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/>
              </a:p>
            </p:txBody>
          </p:sp>
        </mc:Choice>
        <mc:Fallback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C8985DD-213C-4E0F-9851-81059FFC24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213001"/>
                <a:ext cx="1129218" cy="523220"/>
              </a:xfrm>
              <a:prstGeom prst="rect">
                <a:avLst/>
              </a:prstGeom>
              <a:blipFill>
                <a:blip r:embed="rId5"/>
                <a:stretch>
                  <a:fillRect b="-23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E64043-CB48-20A2-F1DB-E4E2E035398A}"/>
                  </a:ext>
                </a:extLst>
              </p:cNvPr>
              <p:cNvSpPr txBox="1"/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b>
                          <m:r>
                            <a:rPr lang="en-US" sz="2800" b="1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rgbClr val="C00000"/>
                  </a:solidFill>
                </a:endParaRPr>
              </a:p>
            </p:txBody>
          </p:sp>
        </mc:Choice>
        <mc:Fallback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1DE64043-CB48-20A2-F1DB-E4E2E0353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42608" y="1748341"/>
                <a:ext cx="1129218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8277046-F61E-8779-1E44-D284F2234A65}"/>
              </a:ext>
            </a:extLst>
          </p:cNvPr>
          <p:cNvCxnSpPr>
            <a:cxnSpLocks/>
          </p:cNvCxnSpPr>
          <p:nvPr/>
        </p:nvCxnSpPr>
        <p:spPr>
          <a:xfrm flipV="1">
            <a:off x="8251901" y="2062063"/>
            <a:ext cx="0" cy="3779884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8E0AA248-BD8C-BCB9-D0DE-D48C05C14A2C}"/>
              </a:ext>
            </a:extLst>
          </p:cNvPr>
          <p:cNvSpPr/>
          <p:nvPr/>
        </p:nvSpPr>
        <p:spPr>
          <a:xfrm>
            <a:off x="8128826" y="1852931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AD4E8CE-0322-C526-F8CD-5134AB2DDF16}"/>
              </a:ext>
            </a:extLst>
          </p:cNvPr>
          <p:cNvCxnSpPr>
            <a:cxnSpLocks/>
          </p:cNvCxnSpPr>
          <p:nvPr/>
        </p:nvCxnSpPr>
        <p:spPr>
          <a:xfrm>
            <a:off x="8374976" y="1976787"/>
            <a:ext cx="1585262" cy="0"/>
          </a:xfrm>
          <a:prstGeom prst="line">
            <a:avLst/>
          </a:prstGeom>
          <a:ln w="38100"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584C77C7-7535-42AB-E2DB-B01AFDA32CCE}"/>
              </a:ext>
            </a:extLst>
          </p:cNvPr>
          <p:cNvSpPr/>
          <p:nvPr/>
        </p:nvSpPr>
        <p:spPr>
          <a:xfrm rot="5400000">
            <a:off x="2520634" y="4289471"/>
            <a:ext cx="356839" cy="3567524"/>
          </a:xfrm>
          <a:prstGeom prst="rightBrac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1E9740E-8F46-B5A8-C303-BBA8A5CDEF71}"/>
                  </a:ext>
                </a:extLst>
              </p:cNvPr>
              <p:cNvSpPr txBox="1"/>
              <p:nvPr/>
            </p:nvSpPr>
            <p:spPr>
              <a:xfrm>
                <a:off x="2375274" y="6285584"/>
                <a:ext cx="457859" cy="530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𝑳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51E9740E-8F46-B5A8-C303-BBA8A5CDEF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75274" y="6285584"/>
                <a:ext cx="457859" cy="530915"/>
              </a:xfrm>
              <a:prstGeom prst="rect">
                <a:avLst/>
              </a:prstGeom>
              <a:blipFill>
                <a:blip r:embed="rId7"/>
                <a:stretch>
                  <a:fillRect l="-8108" r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1B6F8E-2B6F-027E-97A3-36824DA79529}"/>
                  </a:ext>
                </a:extLst>
              </p:cNvPr>
              <p:cNvSpPr txBox="1"/>
              <p:nvPr/>
            </p:nvSpPr>
            <p:spPr>
              <a:xfrm>
                <a:off x="6542432" y="1631090"/>
                <a:ext cx="1126864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̅"/>
                              <m:ctrlP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800" b="1" i="1" smtClean="0">
                                  <a:solidFill>
                                    <a:schemeClr val="accent5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</m:acc>
                        </m:e>
                        <m:sup>
                          <m:r>
                            <a:rPr lang="en-US" sz="2800" b="1" i="1" smtClean="0">
                              <a:solidFill>
                                <a:schemeClr val="accent5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  <m:r>
                        <a:rPr lang="en-US" sz="2800" b="1" i="1" smtClean="0">
                          <a:solidFill>
                            <a:schemeClr val="accent5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2800" b="1" dirty="0">
                  <a:solidFill>
                    <a:schemeClr val="accent5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21B6F8E-2B6F-027E-97A3-36824DA795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42432" y="1631090"/>
                <a:ext cx="1126864" cy="532966"/>
              </a:xfrm>
              <a:prstGeom prst="rect">
                <a:avLst/>
              </a:prstGeom>
              <a:blipFill>
                <a:blip r:embed="rId8"/>
                <a:stretch>
                  <a:fillRect l="-3371" r="-11236" b="-1860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7643638-044F-7D95-FC44-F5FEB4B0992C}"/>
                  </a:ext>
                </a:extLst>
              </p:cNvPr>
              <p:cNvSpPr txBox="1"/>
              <p:nvPr/>
            </p:nvSpPr>
            <p:spPr>
              <a:xfrm>
                <a:off x="1187550" y="264839"/>
                <a:ext cx="5133923" cy="1271695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3600" b="1" dirty="0">
                    <a:solidFill>
                      <a:srgbClr val="FFC700"/>
                    </a:solidFill>
                  </a:rPr>
                  <a:t>Equilibrium Condition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solidFill>
                            <a:srgbClr val="FFC700"/>
                          </a:solidFill>
                          <a:latin typeface="Cambria Math" panose="02040503050406030204" pitchFamily="18" charset="0"/>
                        </a:rPr>
                        <m:t>𝑬</m:t>
                      </m:r>
                      <m:d>
                        <m:dPr>
                          <m:ctrlP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sz="3600" b="1" i="1" smtClean="0">
                                  <a:solidFill>
                                    <a:srgbClr val="FFC7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̅"/>
                                  <m:ctrlPr>
                                    <a:rPr lang="en-US" sz="3600" b="1" i="1" smtClean="0">
                                      <a:solidFill>
                                        <a:srgbClr val="FFC7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sz="3600" b="1" i="1" smtClean="0">
                                      <a:solidFill>
                                        <a:srgbClr val="FFC700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sz="3600" b="1" i="1" smtClean="0">
                                  <a:solidFill>
                                    <a:srgbClr val="FFC700"/>
                                  </a:solidFill>
                                  <a:latin typeface="Cambria Math" panose="02040503050406030204" pitchFamily="18" charset="0"/>
                                </a:rPr>
                                <m:t>𝑪</m:t>
                              </m:r>
                            </m:sup>
                          </m:sSup>
                        </m:e>
                      </m:d>
                      <m:r>
                        <a:rPr lang="en-US" sz="3600" b="1" i="1" smtClean="0">
                          <a:solidFill>
                            <a:srgbClr val="FFC7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sz="36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p>
                      </m:sSup>
                    </m:oMath>
                  </m:oMathPara>
                </a14:m>
                <a:endParaRPr lang="en-US" sz="3600" b="1" dirty="0">
                  <a:solidFill>
                    <a:srgbClr val="FFC70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7643638-044F-7D95-FC44-F5FEB4B099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7550" y="264839"/>
                <a:ext cx="5133923" cy="1271695"/>
              </a:xfrm>
              <a:prstGeom prst="rect">
                <a:avLst/>
              </a:prstGeom>
              <a:blipFill>
                <a:blip r:embed="rId9"/>
                <a:stretch>
                  <a:fillRect t="-6931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ight Brace 2">
            <a:extLst>
              <a:ext uri="{FF2B5EF4-FFF2-40B4-BE49-F238E27FC236}">
                <a16:creationId xmlns:a16="http://schemas.microsoft.com/office/drawing/2014/main" id="{CA320783-368D-A9E9-4A39-B6970EB5BFC5}"/>
              </a:ext>
            </a:extLst>
          </p:cNvPr>
          <p:cNvSpPr/>
          <p:nvPr/>
        </p:nvSpPr>
        <p:spPr>
          <a:xfrm rot="5400000">
            <a:off x="6173073" y="4204562"/>
            <a:ext cx="356839" cy="3737340"/>
          </a:xfrm>
          <a:prstGeom prst="rightBrace">
            <a:avLst/>
          </a:prstGeom>
          <a:ln w="38100">
            <a:solidFill>
              <a:srgbClr val="FFC7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DAE2D9-C3DB-965A-9ACA-A7D2A772D526}"/>
                  </a:ext>
                </a:extLst>
              </p:cNvPr>
              <p:cNvSpPr txBox="1"/>
              <p:nvPr/>
            </p:nvSpPr>
            <p:spPr>
              <a:xfrm>
                <a:off x="6043949" y="6181022"/>
                <a:ext cx="457859" cy="532966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𝑼</m:t>
                          </m:r>
                        </m:e>
                        <m:sup>
                          <m:r>
                            <a:rPr lang="en-US" sz="2800" b="1" i="1" smtClean="0">
                              <a:solidFill>
                                <a:srgbClr val="FFC700"/>
                              </a:solidFill>
                              <a:latin typeface="Cambria Math" panose="02040503050406030204" pitchFamily="18" charset="0"/>
                            </a:rPr>
                            <m:t>𝑪</m:t>
                          </m:r>
                        </m:sup>
                      </m:sSup>
                    </m:oMath>
                  </m:oMathPara>
                </a14:m>
                <a:endParaRPr lang="en-US" sz="2800" b="1" dirty="0">
                  <a:solidFill>
                    <a:srgbClr val="FFC700"/>
                  </a:solidFill>
                </a:endParaRPr>
              </a:p>
            </p:txBody>
          </p:sp>
        </mc:Choice>
        <mc:Fallback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3DDAE2D9-C3DB-965A-9ACA-A7D2A772D5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43949" y="6181022"/>
                <a:ext cx="457859" cy="532966"/>
              </a:xfrm>
              <a:prstGeom prst="rect">
                <a:avLst/>
              </a:prstGeom>
              <a:blipFill>
                <a:blip r:embed="rId10"/>
                <a:stretch>
                  <a:fillRect l="-5263" r="-2894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5" name="Oval 24">
            <a:extLst>
              <a:ext uri="{FF2B5EF4-FFF2-40B4-BE49-F238E27FC236}">
                <a16:creationId xmlns:a16="http://schemas.microsoft.com/office/drawing/2014/main" id="{306301F7-190F-2638-7053-401B0821972F}"/>
              </a:ext>
            </a:extLst>
          </p:cNvPr>
          <p:cNvSpPr/>
          <p:nvPr/>
        </p:nvSpPr>
        <p:spPr>
          <a:xfrm>
            <a:off x="4359749" y="3260646"/>
            <a:ext cx="246150" cy="247711"/>
          </a:xfrm>
          <a:prstGeom prst="ellipse">
            <a:avLst/>
          </a:prstGeom>
          <a:solidFill>
            <a:srgbClr val="C0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473F84-0FB6-15C4-526E-79D3D650AFFE}"/>
                  </a:ext>
                </a:extLst>
              </p:cNvPr>
              <p:cNvSpPr txBox="1"/>
              <p:nvPr/>
            </p:nvSpPr>
            <p:spPr>
              <a:xfrm>
                <a:off x="-4761" y="3122891"/>
                <a:ext cx="1129218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b>
                          <m:r>
                            <a:rPr lang="en-US" sz="2800" b="1" i="1" smtClean="0">
                              <a:solidFill>
                                <a:schemeClr val="tx2">
                                  <a:lumMod val="50000"/>
                                  <a:lumOff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𝑹</m:t>
                          </m:r>
                        </m:sub>
                      </m:sSub>
                    </m:oMath>
                  </m:oMathPara>
                </a14:m>
                <a:endParaRPr lang="en-US" sz="2800" b="1" dirty="0">
                  <a:solidFill>
                    <a:schemeClr val="tx2">
                      <a:lumMod val="50000"/>
                      <a:lumOff val="50000"/>
                    </a:schemeClr>
                  </a:solidFill>
                </a:endParaRPr>
              </a:p>
            </p:txBody>
          </p:sp>
        </mc:Choice>
        <mc:Fallback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7473F84-0FB6-15C4-526E-79D3D650AF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4761" y="3122891"/>
                <a:ext cx="1129218" cy="523220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55086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1680</TotalTime>
  <Words>337</Words>
  <Application>Microsoft Macintosh PowerPoint</Application>
  <PresentationFormat>Widescreen</PresentationFormat>
  <Paragraphs>153</Paragraphs>
  <Slides>25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Aptos</vt:lpstr>
      <vt:lpstr>Aptos Display</vt:lpstr>
      <vt:lpstr>Arial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Jose Rojas</dc:creator>
  <cp:lastModifiedBy>Jose Rojas</cp:lastModifiedBy>
  <cp:revision>11</cp:revision>
  <dcterms:created xsi:type="dcterms:W3CDTF">2025-10-05T07:28:11Z</dcterms:created>
  <dcterms:modified xsi:type="dcterms:W3CDTF">2025-11-12T17:19:42Z</dcterms:modified>
</cp:coreProperties>
</file>